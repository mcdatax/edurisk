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2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869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Antes de empezar, quiero hacerles una pregunta incómoda. ¿Cuántos estudiantes van a perder este año, sin saberlo, hasta que ya sea demasiado tarde? EduRisk responde a esa pregunta el día de la matrícula.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abandono universitario tiene un coste visible — el estudiante que se va — y un coste invisible mucho mayor. Cada estudiante perdido representa entre quince y treinta mil euros en ingresos no percibidos, recursos invertidos, plazas no rentabilizadas y reputación erosionada. Y la mayoría se pierde sin haber tenido oportunidad de intervenir.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abandono se detecta cuando ya es tarde. Las primeras notas suspensas llegan al final del primer semestre. La alerta humana llega meses después. EduRisk cambia ese calendario: la señal está ya el día cero, en los datos de la matrícula.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funciona, sin tecnicismos. El día que un estudiante se matricula, EduRisk analiza su perfil — situación de pago, beca, edad, contexto financiero — y emite una alerta de tres niveles. Verde, amarillo, rojo. Su equipo solo ve los rojos.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 aquí está el corazón de la propuesta. De cada cien estudiantes que van a abandonar, EduRisk detecta sesenta y cinco antes de que se vayan. Sin EduRisk: cero detectados a tiempo. Con EduRisk: sesenta y cinco intervenciones posibles. Esa es la diferencia entre saber y no saber.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Identificamos tres perfiles. El veinte por ciento abandona en el perfil bajo, el cuarenta y cinco en el medio, el sesenta y cuatro en el alto. Cada perfil pide una respuesta distinta — desde acompañamiento ligero hasta intervención financiera directa.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cinco factores que más pesan, en lenguaje de negocio. Si la matrícula no está al día, el riesgo es enorme. La situación financiera global, la beca, la edad y el grupo de edad completan el cuadro. Nada de esto requiere notas, ni encuestas, ni esperar al primer 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EduRisk en funcionamiento. Cada matrícula nueva genera una alerta automática en tiempo real. Sus tutores y servicios de orientación reciben una lista priorizada el primer 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retorno, en números. Una universidad con mil matriculados nuevos al año tiene unos trescientos veintiún estudiantes en riesgo. Sin EduRisk, ninguno se detecta a tiempo. Con EduRisk, doscientos ocho. Si retienen a la mitad, son ciento cuatro estudiantes salvados — más de ochocientos mil euros recuperados al año.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abandono universitario no es inevitable. Es predecible. Si quieren ver EduRisk funcionando con sus propios datos, agendamos una demo personalizada esta misma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43000" y="96678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543050" y="952500"/>
            <a:ext cx="10023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EduRisk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462213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UNA PREGUNTA PARA EL RECTORADO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3052763"/>
            <a:ext cx="1471612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200" b="1" kern="0" spc="-204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¿Cuántos estudiantes perderás este año </a:t>
            </a:r>
            <a:r>
              <a:rPr lang="en-US" sz="10200" b="1" kern="0" spc="-204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sin saberlo?</a:t>
            </a:r>
            <a:endParaRPr lang="en-US" sz="10200" dirty="0"/>
          </a:p>
        </p:txBody>
      </p:sp>
      <p:sp>
        <p:nvSpPr>
          <p:cNvPr id="7" name="Text 5"/>
          <p:cNvSpPr/>
          <p:nvPr/>
        </p:nvSpPr>
        <p:spPr>
          <a:xfrm>
            <a:off x="1143000" y="7339012"/>
            <a:ext cx="117729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300" b="1" kern="0" spc="-33" dirty="0">
                <a:solidFill>
                  <a:srgbClr val="FFFFFF">
                    <a:alpha val="70000"/>
                  </a:srgbClr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EduRisk — Detección temprana de abandono universitario.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169753" y="9648825"/>
            <a:ext cx="205144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PROPUESTA · 2026</a:t>
            </a:r>
            <a:endParaRPr lang="en-US" sz="13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FBA8B0C-6E3E-1E7F-F51E-128BA3E66B03}"/>
              </a:ext>
            </a:extLst>
          </p:cNvPr>
          <p:cNvSpPr/>
          <p:nvPr/>
        </p:nvSpPr>
        <p:spPr>
          <a:xfrm>
            <a:off x="1143000" y="1740694"/>
            <a:ext cx="1471612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MANUEL CORREA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3735050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coste invisible del abandono.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143000" y="6042571"/>
            <a:ext cx="7882979" cy="19050"/>
          </a:xfrm>
          <a:prstGeom prst="rect">
            <a:avLst/>
          </a:prstGeom>
          <a:solidFill>
            <a:srgbClr val="1A3A5C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143000" y="5680621"/>
            <a:ext cx="268431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16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LÍNEA DE VISIBILIDAD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2350"/>
            <a:ext cx="7882979" cy="5905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41825" y="4133850"/>
            <a:ext cx="2984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kern="0" spc="270" dirty="0">
                <a:solidFill>
                  <a:srgbClr val="1A3A5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SE 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41825" y="4457700"/>
            <a:ext cx="298415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550" b="1" dirty="0">
                <a:solidFill>
                  <a:srgbClr val="1A3A5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estudiante se fue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5494109" y="7524750"/>
            <a:ext cx="35318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500" kern="0" spc="270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 QUE NO SE 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94109" y="7848600"/>
            <a:ext cx="353187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Matrícula perdida · Plaza vacía Recursos invertidos Reputación erosionada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978479" y="4810125"/>
            <a:ext cx="73813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COSTE POR ESTUDIANTE PERDIDO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978479" y="5210175"/>
            <a:ext cx="7381363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0" b="1" kern="0" spc="-540" dirty="0">
                <a:solidFill>
                  <a:srgbClr val="1A3A5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15–30</a:t>
            </a:r>
            <a:r>
              <a:rPr lang="en-US" sz="6750" b="1" kern="0" spc="-540" dirty="0">
                <a:solidFill>
                  <a:srgbClr val="1A3A5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k€</a:t>
            </a:r>
            <a:endParaRPr lang="en-US" sz="13500" dirty="0"/>
          </a:p>
        </p:txBody>
      </p:sp>
      <p:sp>
        <p:nvSpPr>
          <p:cNvPr id="14" name="Text 11"/>
          <p:cNvSpPr/>
          <p:nvPr/>
        </p:nvSpPr>
        <p:spPr>
          <a:xfrm>
            <a:off x="9978479" y="7019925"/>
            <a:ext cx="529780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 ingresos no percibidos, recursos invertidos y plaza no rentabilizada — por cada matrícula que abandona.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552563" y="9648825"/>
            <a:ext cx="2670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 · EL PROBLEMA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MOMENTO CRÍTICO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4716125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momento en que ya es tarde.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714500" y="5457825"/>
            <a:ext cx="14859000" cy="3810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269653" y="3743325"/>
            <a:ext cx="9644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90476" y="4095750"/>
            <a:ext cx="112275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Día 0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1504206" y="4819650"/>
            <a:ext cx="419100" cy="419100"/>
          </a:xfrm>
          <a:prstGeom prst="ellipse">
            <a:avLst/>
          </a:prstGeom>
          <a:solidFill>
            <a:srgbClr val="0F6E56"/>
          </a:solidFill>
          <a:ln w="76200">
            <a:solidFill>
              <a:srgbClr val="FBFAF7"/>
            </a:solidFill>
            <a:prstDash val="solid"/>
          </a:ln>
          <a:effectLst>
            <a:outerShdw blurRad="101600" dist="50800" dir="16200000" algn="bl" rotWithShape="0">
              <a:srgbClr val="0F6E56">
                <a:alpha val="10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61988" y="5372100"/>
            <a:ext cx="21036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Día de la matrícula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748695" y="3743325"/>
            <a:ext cx="17256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ACTUAL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947678" y="4095750"/>
            <a:ext cx="132769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Mes 8</a:t>
            </a:r>
            <a:endParaRPr lang="en-US" sz="3450" dirty="0"/>
          </a:p>
        </p:txBody>
      </p:sp>
      <p:sp>
        <p:nvSpPr>
          <p:cNvPr id="12" name="Shape 10"/>
          <p:cNvSpPr/>
          <p:nvPr/>
        </p:nvSpPr>
        <p:spPr>
          <a:xfrm>
            <a:off x="16363950" y="4819650"/>
            <a:ext cx="419100" cy="419100"/>
          </a:xfrm>
          <a:prstGeom prst="ellipse">
            <a:avLst/>
          </a:prstGeom>
          <a:solidFill>
            <a:srgbClr val="E74C3C"/>
          </a:solidFill>
          <a:ln w="76200">
            <a:solidFill>
              <a:srgbClr val="FBFAF7"/>
            </a:solidFill>
            <a:prstDash val="solid"/>
          </a:ln>
          <a:effectLst>
            <a:outerShdw blurRad="101600" dist="50800" dir="16200000" algn="bl" rotWithShape="0">
              <a:srgbClr val="E74C3C">
                <a:alpha val="10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15003780" y="5372100"/>
            <a:ext cx="313944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9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Notas bajas, baja confirmada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943600" y="5381625"/>
            <a:ext cx="133350" cy="133350"/>
          </a:xfrm>
          <a:prstGeom prst="ellipse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9944100" y="5381625"/>
            <a:ext cx="133350" cy="133350"/>
          </a:xfrm>
          <a:prstGeom prst="ellipse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3624471" y="5381625"/>
            <a:ext cx="133350" cy="133350"/>
          </a:xfrm>
          <a:prstGeom prst="ellipse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676900" y="5791200"/>
            <a:ext cx="609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77400" y="5791200"/>
            <a:ext cx="609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357771" y="5791200"/>
            <a:ext cx="609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 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143000" y="7934325"/>
            <a:ext cx="7620000" cy="381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1143000" y="8201025"/>
            <a:ext cx="784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Detección anticipada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8696325"/>
            <a:ext cx="7848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meses para intervenir.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525000" y="7934325"/>
            <a:ext cx="76200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9525000" y="8201025"/>
            <a:ext cx="784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Reacción tardía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525000" y="8696325"/>
            <a:ext cx="7848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 estudiante ya se ha ido.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688467" y="9648825"/>
            <a:ext cx="35602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 · EL MOMENTO CRÍTICO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4716125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Una alerta el día de la matrícula.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4033837"/>
            <a:ext cx="12753975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EduRisk analiza el perfil de cada estudiante en el momento de matricularse y emite una de tres alertas. Su equipo solo actúa sobre las que importan.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143000" y="6015038"/>
            <a:ext cx="5079950" cy="311467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571625" y="6481763"/>
            <a:ext cx="533400" cy="533400"/>
          </a:xfrm>
          <a:prstGeom prst="ellipse">
            <a:avLst/>
          </a:prstGeom>
          <a:solidFill>
            <a:srgbClr val="E74C3C"/>
          </a:solidFill>
          <a:ln/>
          <a:effectLst>
            <a:outerShdw blurRad="101600" dist="50800" dir="16200000" algn="bl" rotWithShape="0">
              <a:srgbClr val="E74C3C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295525" y="6638925"/>
            <a:ext cx="5837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571625" y="7281863"/>
            <a:ext cx="434938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Intervención inmediata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571625" y="8348663"/>
            <a:ext cx="43493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Tutor asignado · contacto en 48 h.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03950" y="6015038"/>
            <a:ext cx="5079950" cy="311467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032575" y="6481763"/>
            <a:ext cx="533400" cy="533400"/>
          </a:xfrm>
          <a:prstGeom prst="ellipse">
            <a:avLst/>
          </a:prstGeom>
          <a:solidFill>
            <a:srgbClr val="E8B23A"/>
          </a:solidFill>
          <a:ln/>
          <a:effectLst>
            <a:outerShdw blurRad="101600" dist="50800" dir="16200000" algn="bl" rotWithShape="0">
              <a:srgbClr val="E8B23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756475" y="6638925"/>
            <a:ext cx="7106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B886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32575" y="7281863"/>
            <a:ext cx="43493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Seguimiento activo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7032575" y="7891463"/>
            <a:ext cx="434938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Revisión mensual del progreso.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64901" y="6015038"/>
            <a:ext cx="5080099" cy="3114675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2493526" y="6481763"/>
            <a:ext cx="533400" cy="533400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3217426" y="6638925"/>
            <a:ext cx="5837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89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BAJO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493526" y="7281863"/>
            <a:ext cx="434953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Acompañamiento estándar</a:t>
            </a:r>
            <a:endParaRPr lang="en-US" sz="3450" dirty="0"/>
          </a:p>
        </p:txBody>
      </p:sp>
      <p:sp>
        <p:nvSpPr>
          <p:cNvPr id="20" name="Text 18"/>
          <p:cNvSpPr/>
          <p:nvPr/>
        </p:nvSpPr>
        <p:spPr>
          <a:xfrm>
            <a:off x="12493526" y="8348663"/>
            <a:ext cx="43495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acción adicional requerida.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305657" y="9648825"/>
            <a:ext cx="29245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 · CÓMO FUNCIONA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B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NÚCLEO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65 de cada 100, </a:t>
            </a:r>
            <a:r>
              <a:rPr lang="en-US" sz="5700" b="1" kern="0" spc="-114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detectados a tiempo.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3409950"/>
            <a:ext cx="803991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ESTUDIANTES QUE ABANDONARÁN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743075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343150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943225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543300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143375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743450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343525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5943600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543675" y="38671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143000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743075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343150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943225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543300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143375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743450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5343525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943600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543675" y="44672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1143000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1743075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2343150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943225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3543300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143375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4743450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5343525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5943600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543675" y="50673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1143000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1743075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2343150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2943225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3543300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4143375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4743450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5343525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5943600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6543675" y="566737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1143000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1743075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2343150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2943225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543300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4143375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4743450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5343525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5943600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6543675" y="626745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1143000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1743075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2343150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2943225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3543300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4143375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4743450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5343525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5943600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6543675" y="6867525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1143000" y="74676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1743075" y="74676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2343150" y="74676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2943225" y="74676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3543300" y="7467600"/>
            <a:ext cx="504825" cy="504825"/>
          </a:xfrm>
          <a:prstGeom prst="ellipse">
            <a:avLst/>
          </a:prstGeom>
          <a:solidFill>
            <a:srgbClr val="0F6E56"/>
          </a:solidFill>
          <a:ln/>
          <a:effectLst>
            <a:outerShdw blurRad="101600" dist="50800" dir="16200000" algn="bl" rotWithShape="0">
              <a:srgbClr val="0F6E56">
                <a:alpha val="3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4143375" y="746760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4743450" y="746760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5343525" y="746760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5943600" y="746760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Shape 73"/>
          <p:cNvSpPr/>
          <p:nvPr/>
        </p:nvSpPr>
        <p:spPr>
          <a:xfrm>
            <a:off x="6543675" y="746760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1143000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Shape 75"/>
          <p:cNvSpPr/>
          <p:nvPr/>
        </p:nvSpPr>
        <p:spPr>
          <a:xfrm>
            <a:off x="1743075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2343150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2943225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3543300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Shape 79"/>
          <p:cNvSpPr/>
          <p:nvPr/>
        </p:nvSpPr>
        <p:spPr>
          <a:xfrm>
            <a:off x="4143375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743450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5343525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5943600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Shape 83"/>
          <p:cNvSpPr/>
          <p:nvPr/>
        </p:nvSpPr>
        <p:spPr>
          <a:xfrm>
            <a:off x="6543675" y="806767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1143000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Shape 85"/>
          <p:cNvSpPr/>
          <p:nvPr/>
        </p:nvSpPr>
        <p:spPr>
          <a:xfrm>
            <a:off x="1743075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2343150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Shape 87"/>
          <p:cNvSpPr/>
          <p:nvPr/>
        </p:nvSpPr>
        <p:spPr>
          <a:xfrm>
            <a:off x="2943225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3543300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Shape 89"/>
          <p:cNvSpPr/>
          <p:nvPr/>
        </p:nvSpPr>
        <p:spPr>
          <a:xfrm>
            <a:off x="4143375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4743450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5343525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5943600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3"/>
          <p:cNvSpPr/>
          <p:nvPr/>
        </p:nvSpPr>
        <p:spPr>
          <a:xfrm>
            <a:off x="6543675" y="8667750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Shape 94"/>
          <p:cNvSpPr/>
          <p:nvPr/>
        </p:nvSpPr>
        <p:spPr>
          <a:xfrm>
            <a:off x="1143000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Shape 95"/>
          <p:cNvSpPr/>
          <p:nvPr/>
        </p:nvSpPr>
        <p:spPr>
          <a:xfrm>
            <a:off x="1743075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2343150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9" name="Shape 97"/>
          <p:cNvSpPr/>
          <p:nvPr/>
        </p:nvSpPr>
        <p:spPr>
          <a:xfrm>
            <a:off x="2943225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Shape 98"/>
          <p:cNvSpPr/>
          <p:nvPr/>
        </p:nvSpPr>
        <p:spPr>
          <a:xfrm>
            <a:off x="3543300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9"/>
          <p:cNvSpPr/>
          <p:nvPr/>
        </p:nvSpPr>
        <p:spPr>
          <a:xfrm>
            <a:off x="4143375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4743450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Shape 101"/>
          <p:cNvSpPr/>
          <p:nvPr/>
        </p:nvSpPr>
        <p:spPr>
          <a:xfrm>
            <a:off x="5343525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Shape 102"/>
          <p:cNvSpPr/>
          <p:nvPr/>
        </p:nvSpPr>
        <p:spPr>
          <a:xfrm>
            <a:off x="5943600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5" name="Shape 103"/>
          <p:cNvSpPr/>
          <p:nvPr/>
        </p:nvSpPr>
        <p:spPr>
          <a:xfrm>
            <a:off x="6543675" y="9267825"/>
            <a:ext cx="504825" cy="504825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6" name="Shape 104"/>
          <p:cNvSpPr/>
          <p:nvPr/>
        </p:nvSpPr>
        <p:spPr>
          <a:xfrm>
            <a:off x="1143000" y="10129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ext 105"/>
          <p:cNvSpPr/>
          <p:nvPr/>
        </p:nvSpPr>
        <p:spPr>
          <a:xfrm>
            <a:off x="1428750" y="10115550"/>
            <a:ext cx="15027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65 DETECTADOS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3198168" y="1012983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Text 107"/>
          <p:cNvSpPr/>
          <p:nvPr/>
        </p:nvSpPr>
        <p:spPr>
          <a:xfrm>
            <a:off x="3483918" y="10115550"/>
            <a:ext cx="18319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44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NO DETECTADOS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9710738" y="4595813"/>
            <a:ext cx="7434263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1" name="Text 109"/>
          <p:cNvSpPr/>
          <p:nvPr/>
        </p:nvSpPr>
        <p:spPr>
          <a:xfrm>
            <a:off x="9710738" y="4881563"/>
            <a:ext cx="7657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 EDURISK</a:t>
            </a:r>
            <a:endParaRPr lang="en-US" sz="1500" dirty="0"/>
          </a:p>
        </p:txBody>
      </p:sp>
      <p:sp>
        <p:nvSpPr>
          <p:cNvPr id="112" name="Text 110"/>
          <p:cNvSpPr/>
          <p:nvPr/>
        </p:nvSpPr>
        <p:spPr>
          <a:xfrm>
            <a:off x="9710738" y="5205413"/>
            <a:ext cx="765729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b="1" kern="0" spc="-270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</a:t>
            </a:r>
            <a:endParaRPr lang="en-US" sz="9000" dirty="0"/>
          </a:p>
        </p:txBody>
      </p:sp>
      <p:sp>
        <p:nvSpPr>
          <p:cNvPr id="113" name="Text 111"/>
          <p:cNvSpPr/>
          <p:nvPr/>
        </p:nvSpPr>
        <p:spPr>
          <a:xfrm>
            <a:off x="9710738" y="6291263"/>
            <a:ext cx="7657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detectados a tiempo</a:t>
            </a:r>
            <a:endParaRPr lang="en-US" sz="2250" dirty="0"/>
          </a:p>
        </p:txBody>
      </p:sp>
      <p:sp>
        <p:nvSpPr>
          <p:cNvPr id="114" name="Shape 112"/>
          <p:cNvSpPr/>
          <p:nvPr/>
        </p:nvSpPr>
        <p:spPr>
          <a:xfrm>
            <a:off x="9710738" y="7034213"/>
            <a:ext cx="7434263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5" name="Text 113"/>
          <p:cNvSpPr/>
          <p:nvPr/>
        </p:nvSpPr>
        <p:spPr>
          <a:xfrm>
            <a:off x="9710738" y="7319963"/>
            <a:ext cx="76572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 EDURISK</a:t>
            </a:r>
            <a:endParaRPr lang="en-US" sz="1500" dirty="0"/>
          </a:p>
        </p:txBody>
      </p:sp>
      <p:sp>
        <p:nvSpPr>
          <p:cNvPr id="116" name="Text 114"/>
          <p:cNvSpPr/>
          <p:nvPr/>
        </p:nvSpPr>
        <p:spPr>
          <a:xfrm>
            <a:off x="9710738" y="7643813"/>
            <a:ext cx="765729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0" b="1" kern="0" spc="-270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65</a:t>
            </a:r>
            <a:endParaRPr lang="en-US" sz="9000" dirty="0"/>
          </a:p>
        </p:txBody>
      </p:sp>
      <p:sp>
        <p:nvSpPr>
          <p:cNvPr id="117" name="Text 115"/>
          <p:cNvSpPr/>
          <p:nvPr/>
        </p:nvSpPr>
        <p:spPr>
          <a:xfrm>
            <a:off x="9710738" y="8729663"/>
            <a:ext cx="7657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0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intervenciones posibles</a:t>
            </a:r>
            <a:endParaRPr lang="en-US" sz="2250" dirty="0"/>
          </a:p>
        </p:txBody>
      </p:sp>
      <p:sp>
        <p:nvSpPr>
          <p:cNvPr id="118" name="Text 116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FFFFF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119" name="Text 117"/>
          <p:cNvSpPr/>
          <p:nvPr/>
        </p:nvSpPr>
        <p:spPr>
          <a:xfrm>
            <a:off x="14799469" y="9648825"/>
            <a:ext cx="24217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 · EL NÚCLEO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SEGMENTACIÓN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Tres perfiles, tres respuestas.</a:t>
            </a:r>
            <a:endParaRPr lang="en-US" sz="5700" dirty="0"/>
          </a:p>
        </p:txBody>
      </p:sp>
      <p:sp>
        <p:nvSpPr>
          <p:cNvPr id="5" name="Shape 3"/>
          <p:cNvSpPr/>
          <p:nvPr/>
        </p:nvSpPr>
        <p:spPr>
          <a:xfrm>
            <a:off x="1143000" y="2847975"/>
            <a:ext cx="5079950" cy="66770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533525" y="3314700"/>
            <a:ext cx="44278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 BAJO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33525" y="3790950"/>
            <a:ext cx="442786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20%</a:t>
            </a:r>
            <a:endParaRPr lang="en-US" sz="10500" dirty="0"/>
          </a:p>
        </p:txBody>
      </p:sp>
      <p:sp>
        <p:nvSpPr>
          <p:cNvPr id="8" name="Text 6"/>
          <p:cNvSpPr/>
          <p:nvPr/>
        </p:nvSpPr>
        <p:spPr>
          <a:xfrm>
            <a:off x="1533525" y="5067300"/>
            <a:ext cx="44278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tasa de abandono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533525" y="5772150"/>
            <a:ext cx="4298900" cy="19050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1533525" y="6096000"/>
            <a:ext cx="44278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Acompañamiento estándar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33525" y="6572250"/>
            <a:ext cx="44278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Recursos generales · sin alerta.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603950" y="2847975"/>
            <a:ext cx="5079950" cy="6677025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994475" y="3314700"/>
            <a:ext cx="442786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B886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 MEDIO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4475" y="3790950"/>
            <a:ext cx="4427867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B886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45%</a:t>
            </a:r>
            <a:endParaRPr lang="en-US" sz="10500" dirty="0"/>
          </a:p>
        </p:txBody>
      </p:sp>
      <p:sp>
        <p:nvSpPr>
          <p:cNvPr id="15" name="Text 13"/>
          <p:cNvSpPr/>
          <p:nvPr/>
        </p:nvSpPr>
        <p:spPr>
          <a:xfrm>
            <a:off x="6994475" y="5067300"/>
            <a:ext cx="44278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tasa de abandono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6994475" y="5772150"/>
            <a:ext cx="4298900" cy="19050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994475" y="6096000"/>
            <a:ext cx="4427867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Seguimiento académico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94475" y="6572250"/>
            <a:ext cx="442786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Tutor de referencia · revisión trimestral.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64901" y="2847975"/>
            <a:ext cx="5080099" cy="6677025"/>
          </a:xfrm>
          <a:prstGeom prst="roundRect">
            <a:avLst>
              <a:gd name="adj" fmla="val 45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12445901" y="3305175"/>
            <a:ext cx="44476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PERFIL ALTO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445901" y="3781425"/>
            <a:ext cx="444764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b="1" kern="0" spc="-420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64%</a:t>
            </a:r>
            <a:endParaRPr lang="en-US" sz="10500" dirty="0"/>
          </a:p>
        </p:txBody>
      </p:sp>
      <p:sp>
        <p:nvSpPr>
          <p:cNvPr id="22" name="Text 20"/>
          <p:cNvSpPr/>
          <p:nvPr/>
        </p:nvSpPr>
        <p:spPr>
          <a:xfrm>
            <a:off x="12445901" y="5057775"/>
            <a:ext cx="444764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tasa de abandono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445901" y="5762625"/>
            <a:ext cx="4318099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2445901" y="6086475"/>
            <a:ext cx="444764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Intervención prioritaria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445901" y="6562725"/>
            <a:ext cx="444764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Apoyo financiero · contacto en 48 h.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4429184" y="9648825"/>
            <a:ext cx="27972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 · SEGMENTACIÓN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FACTORES CLAVE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154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 que más pesa en la decisión.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4086225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019300" y="3924300"/>
            <a:ext cx="1330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Matrícula al día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2019300" y="4448175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2019300" y="4448175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5163800" y="3814763"/>
            <a:ext cx="19812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850" b="1" dirty="0">
                <a:solidFill>
                  <a:srgbClr val="1A3A5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más decisivo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143000" y="5024438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19300" y="4862513"/>
            <a:ext cx="1330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Riesgo financiero combinado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2019300" y="5386388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019300" y="5386388"/>
            <a:ext cx="10074325" cy="133350"/>
          </a:xfrm>
          <a:prstGeom prst="roundRect">
            <a:avLst>
              <a:gd name="adj" fmla="val 50000"/>
            </a:avLst>
          </a:prstGeom>
          <a:solidFill>
            <a:srgbClr val="1A3A5C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1143000" y="5853113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019300" y="5691188"/>
            <a:ext cx="1330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Beca recibida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2019300" y="6215063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019300" y="6215063"/>
            <a:ext cx="7749480" cy="133350"/>
          </a:xfrm>
          <a:prstGeom prst="roundRect">
            <a:avLst>
              <a:gd name="adj" fmla="val 50000"/>
            </a:avLst>
          </a:prstGeom>
          <a:solidFill>
            <a:srgbClr val="1A3A5C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15163800" y="5762625"/>
            <a:ext cx="1981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0F6E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−26 pp </a:t>
            </a:r>
            <a:r>
              <a:rPr lang="en-US" sz="1650" dirty="0">
                <a:solidFill>
                  <a:srgbClr val="6B7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abandono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143000" y="6681788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19300" y="6519863"/>
            <a:ext cx="1330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Edad al matricularse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2019300" y="7043738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019300" y="7043738"/>
            <a:ext cx="6199584" cy="133350"/>
          </a:xfrm>
          <a:prstGeom prst="roundRect">
            <a:avLst>
              <a:gd name="adj" fmla="val 50000"/>
            </a:avLst>
          </a:prstGeom>
          <a:solidFill>
            <a:srgbClr val="1A3A5C">
              <a:alpha val="5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143000" y="7510462"/>
            <a:ext cx="6477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019300" y="7348538"/>
            <a:ext cx="133033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Grupo de edad</a:t>
            </a:r>
            <a:endParaRPr lang="en-US" sz="2700" dirty="0"/>
          </a:p>
        </p:txBody>
      </p:sp>
      <p:sp>
        <p:nvSpPr>
          <p:cNvPr id="25" name="Shape 23"/>
          <p:cNvSpPr/>
          <p:nvPr/>
        </p:nvSpPr>
        <p:spPr>
          <a:xfrm>
            <a:off x="2019300" y="7872413"/>
            <a:ext cx="12915900" cy="133350"/>
          </a:xfrm>
          <a:prstGeom prst="roundRect">
            <a:avLst>
              <a:gd name="adj" fmla="val 50000"/>
            </a:avLst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2019300" y="7872413"/>
            <a:ext cx="4907905" cy="133350"/>
          </a:xfrm>
          <a:prstGeom prst="roundRect">
            <a:avLst>
              <a:gd name="adj" fmla="val 50000"/>
            </a:avLst>
          </a:prstGeom>
          <a:solidFill>
            <a:srgbClr val="1A3A5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143000" y="8482013"/>
            <a:ext cx="10791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Disponible el día cero — sin notas, sin encuestas, sin esperar al primer examen.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922996" y="9648825"/>
            <a:ext cx="22982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 · FACTORES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EduRisk en funcionamiento.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4552950"/>
            <a:ext cx="603729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2400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Cada matrícula nueva genera una alerta automática en tiempo real.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676900"/>
            <a:ext cx="5861447" cy="19050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143000" y="6000750"/>
            <a:ext cx="3119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512094" y="6000750"/>
            <a:ext cx="306585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Lista priorizada el primer día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6496050"/>
            <a:ext cx="3119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512094" y="6496050"/>
            <a:ext cx="432040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Integración con su sistema de matrícula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43000" y="6991350"/>
            <a:ext cx="3119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512094" y="6991350"/>
            <a:ext cx="30601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instalación · acceso web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43000" y="7715250"/>
            <a:ext cx="60372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EDURISKML.STREAMLIT.APP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66447" y="3538538"/>
            <a:ext cx="9378553" cy="5105400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  <a:effectLst>
            <a:outerShdw blurRad="571500" dist="228600" dir="5400000" algn="bl" rotWithShape="0">
              <a:srgbClr val="0E1B2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7775972" y="3548063"/>
            <a:ext cx="9359503" cy="428625"/>
          </a:xfrm>
          <a:prstGeom prst="rect">
            <a:avLst/>
          </a:prstGeom>
          <a:solidFill>
            <a:srgbClr val="EFEA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7775972" y="3967163"/>
            <a:ext cx="9359503" cy="9525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947422" y="3700463"/>
            <a:ext cx="114300" cy="114300"/>
          </a:xfrm>
          <a:prstGeom prst="ellipse">
            <a:avLst/>
          </a:prstGeom>
          <a:solidFill>
            <a:srgbClr val="E156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8137922" y="3700463"/>
            <a:ext cx="114300" cy="114300"/>
          </a:xfrm>
          <a:prstGeom prst="ellipse">
            <a:avLst/>
          </a:prstGeom>
          <a:solidFill>
            <a:srgbClr val="E8B2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8328422" y="3700463"/>
            <a:ext cx="114300" cy="114300"/>
          </a:xfrm>
          <a:prstGeom prst="ellipse">
            <a:avLst/>
          </a:prstGeom>
          <a:solidFill>
            <a:srgbClr val="4FA86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8747522" y="3671888"/>
            <a:ext cx="19164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eduriskml.streamlit.app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80772" y="4333875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366522" y="4281488"/>
            <a:ext cx="17030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EduRisk · Panel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80772" y="4786313"/>
            <a:ext cx="2789634" cy="95250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252222" y="4957763"/>
            <a:ext cx="25229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NUEVAS HOY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252222" y="5129213"/>
            <a:ext cx="25229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128</a:t>
            </a:r>
            <a:endParaRPr lang="en-US" sz="2850" dirty="0"/>
          </a:p>
        </p:txBody>
      </p:sp>
      <p:sp>
        <p:nvSpPr>
          <p:cNvPr id="26" name="Shape 24"/>
          <p:cNvSpPr/>
          <p:nvPr/>
        </p:nvSpPr>
        <p:spPr>
          <a:xfrm>
            <a:off x="11060906" y="4786313"/>
            <a:ext cx="2789634" cy="95250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11232356" y="4957763"/>
            <a:ext cx="25229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ALTO RIESGO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1232356" y="5129213"/>
            <a:ext cx="25229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19</a:t>
            </a:r>
            <a:endParaRPr lang="en-US" sz="2850" dirty="0"/>
          </a:p>
        </p:txBody>
      </p:sp>
      <p:sp>
        <p:nvSpPr>
          <p:cNvPr id="29" name="Shape 27"/>
          <p:cNvSpPr/>
          <p:nvPr/>
        </p:nvSpPr>
        <p:spPr>
          <a:xfrm>
            <a:off x="14041041" y="4786313"/>
            <a:ext cx="2789634" cy="952500"/>
          </a:xfrm>
          <a:prstGeom prst="roundRect">
            <a:avLst>
              <a:gd name="adj" fmla="val 12000"/>
            </a:avLst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14212491" y="4957763"/>
            <a:ext cx="252293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99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MEDIO RIESGO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4212491" y="5129213"/>
            <a:ext cx="252293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B8861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34</a:t>
            </a:r>
            <a:endParaRPr lang="en-US" sz="2850" dirty="0"/>
          </a:p>
        </p:txBody>
      </p:sp>
      <p:sp>
        <p:nvSpPr>
          <p:cNvPr id="32" name="Shape 30"/>
          <p:cNvSpPr/>
          <p:nvPr/>
        </p:nvSpPr>
        <p:spPr>
          <a:xfrm>
            <a:off x="8080772" y="6005513"/>
            <a:ext cx="8749903" cy="2286000"/>
          </a:xfrm>
          <a:prstGeom prst="roundRect">
            <a:avLst>
              <a:gd name="adj" fmla="val 5000"/>
            </a:avLst>
          </a:prstGeom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8090297" y="6015038"/>
            <a:ext cx="8730853" cy="36195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8261747" y="6129338"/>
            <a:ext cx="19401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0125670" y="6129338"/>
            <a:ext cx="319983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ESTUDIANTE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3232309" y="6129338"/>
            <a:ext cx="19401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FACTOR CRÍTICO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5020032" y="6129338"/>
            <a:ext cx="16295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825" kern="0" spc="83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RIESGO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8090297" y="6376988"/>
            <a:ext cx="8730853" cy="9525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8261747" y="6519863"/>
            <a:ext cx="1940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#2841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25670" y="6534150"/>
            <a:ext cx="31998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M. Álvarez Pinto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232309" y="6534150"/>
            <a:ext cx="19401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Matrícula impagada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138445" y="6515100"/>
            <a:ext cx="511106" cy="2286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1"/>
          <p:cNvSpPr/>
          <p:nvPr/>
        </p:nvSpPr>
        <p:spPr>
          <a:xfrm>
            <a:off x="16157495" y="6553200"/>
            <a:ext cx="3968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ALTO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8090297" y="6853238"/>
            <a:ext cx="8730853" cy="9525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8261747" y="6996113"/>
            <a:ext cx="1940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#2842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125670" y="7010400"/>
            <a:ext cx="31998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J. Ribeiro Costa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32309" y="7010400"/>
            <a:ext cx="19401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Sin beca · &gt;25 años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6050091" y="6991350"/>
            <a:ext cx="599460" cy="228600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6069141" y="7029450"/>
            <a:ext cx="48516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MEDIO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8090297" y="7329488"/>
            <a:ext cx="8730853" cy="9525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8261747" y="7472363"/>
            <a:ext cx="1940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#2843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25670" y="7486650"/>
            <a:ext cx="31998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L. Santos Marques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232309" y="7486650"/>
            <a:ext cx="19401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Riesgo financiero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6138445" y="7467600"/>
            <a:ext cx="511106" cy="22860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16157495" y="7505700"/>
            <a:ext cx="39680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ALTO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8090297" y="7805738"/>
            <a:ext cx="8730853" cy="9525"/>
          </a:xfrm>
          <a:prstGeom prst="rect">
            <a:avLst/>
          </a:prstGeom>
          <a:solidFill>
            <a:srgbClr val="DCD6C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8261747" y="7948613"/>
            <a:ext cx="1940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#2844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10125670" y="7962900"/>
            <a:ext cx="319983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1B2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A. Ferreira Lima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3232309" y="7962900"/>
            <a:ext cx="19401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Perfil estable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6120730" y="7943850"/>
            <a:ext cx="528821" cy="228600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16139780" y="7981950"/>
            <a:ext cx="41452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BAJO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4922996" y="9648825"/>
            <a:ext cx="229820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 · PRODUCTO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1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43000" y="9525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RETORNO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428750"/>
            <a:ext cx="16482060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b="1" kern="0" spc="-114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retorno, en números.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2333625"/>
            <a:ext cx="117729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50" b="1" kern="0" spc="-22" dirty="0">
                <a:solidFill>
                  <a:srgbClr val="6B788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Universidad con 1.000 nuevas matrículas al año.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3700463"/>
            <a:ext cx="3696891" cy="2609850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457325" y="4052888"/>
            <a:ext cx="316028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ESTUDIANTES EN RIESGO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57325" y="4700588"/>
            <a:ext cx="3160288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16" dirty="0">
                <a:solidFill>
                  <a:srgbClr val="0E1B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321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457325" y="5643563"/>
            <a:ext cx="316028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 1.000 matriculados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68491" y="3700463"/>
            <a:ext cx="3697039" cy="2609850"/>
          </a:xfrm>
          <a:prstGeom prst="roundRect">
            <a:avLst>
              <a:gd name="adj" fmla="val 7299"/>
            </a:avLst>
          </a:prstGeom>
          <a:solidFill>
            <a:srgbClr val="FFFFFF"/>
          </a:solidFill>
          <a:ln w="9525">
            <a:solidFill>
              <a:srgbClr val="DCD6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382816" y="4052888"/>
            <a:ext cx="3160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E74C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SIN EDURISK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82816" y="4452938"/>
            <a:ext cx="3160441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16" dirty="0">
                <a:solidFill>
                  <a:srgbClr val="E74C3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382816" y="5395913"/>
            <a:ext cx="316044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detectados a tiempo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94130" y="3700463"/>
            <a:ext cx="3697039" cy="2609850"/>
          </a:xfrm>
          <a:prstGeom prst="roundRect">
            <a:avLst>
              <a:gd name="adj" fmla="val 7299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298930" y="4043363"/>
            <a:ext cx="31800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 EDURISK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98930" y="4443413"/>
            <a:ext cx="3180063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16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208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9298930" y="5386388"/>
            <a:ext cx="31800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detectados a tiempo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919770" y="3700463"/>
            <a:ext cx="4225230" cy="2609850"/>
          </a:xfrm>
          <a:prstGeom prst="roundRect">
            <a:avLst>
              <a:gd name="adj" fmla="val 7299"/>
            </a:avLst>
          </a:prstGeom>
          <a:solidFill>
            <a:srgbClr val="1A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13224570" y="4043363"/>
            <a:ext cx="37240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 RETIENE 50%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24570" y="4443413"/>
            <a:ext cx="3724099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16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104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224570" y="5386388"/>
            <a:ext cx="372409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estudiantes salvados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977063"/>
            <a:ext cx="16002000" cy="19050"/>
          </a:xfrm>
          <a:prstGeom prst="rect">
            <a:avLst/>
          </a:prstGeom>
          <a:solidFill>
            <a:srgbClr val="0E1B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1143000" y="8139112"/>
            <a:ext cx="413231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INGRESOS RECUPERADOS AL AÑO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8462963"/>
            <a:ext cx="413231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6B788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 8.000 €/año de matrícula media.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29964" y="7339012"/>
            <a:ext cx="4959487" cy="147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600" b="1" kern="0" spc="-504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832k€</a:t>
            </a:r>
            <a:endParaRPr lang="en-US" sz="12600" dirty="0"/>
          </a:p>
        </p:txBody>
      </p:sp>
      <p:sp>
        <p:nvSpPr>
          <p:cNvPr id="26" name="Text 24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046375" y="9648825"/>
            <a:ext cx="2174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6B78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 · RETORNO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6E5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43000" y="966788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543050" y="952500"/>
            <a:ext cx="10023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EduRisk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2366963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CIERRE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881313"/>
            <a:ext cx="14716125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200" b="1" kern="0" spc="-204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El abandono no es inevitable. </a:t>
            </a:r>
            <a:r>
              <a:rPr lang="en-US" sz="10200" b="1" kern="0" spc="-204" dirty="0">
                <a:solidFill>
                  <a:srgbClr val="FFFFFF">
                    <a:alpha val="55000"/>
                  </a:srgbClr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 predecible.</a:t>
            </a:r>
            <a:endParaRPr lang="en-US" sz="10200" dirty="0"/>
          </a:p>
        </p:txBody>
      </p:sp>
      <p:sp>
        <p:nvSpPr>
          <p:cNvPr id="7" name="Shape 5"/>
          <p:cNvSpPr/>
          <p:nvPr/>
        </p:nvSpPr>
        <p:spPr>
          <a:xfrm>
            <a:off x="1143000" y="7453312"/>
            <a:ext cx="5508129" cy="952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562100" y="7720012"/>
            <a:ext cx="483517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6E56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Solicitar demo personalizada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994029" y="7791450"/>
            <a:ext cx="34749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FFFFFF">
                    <a:alpha val="7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EDURISKML.STREAMLIT.APP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43000" y="9648825"/>
            <a:ext cx="9404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62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EDURISK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046375" y="9648825"/>
            <a:ext cx="217482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FFFFFF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10 · GRACIAS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1063</Words>
  <Application>Microsoft Macintosh PowerPoint</Application>
  <PresentationFormat>Personalizado</PresentationFormat>
  <Paragraphs>186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-apple-system</vt:lpstr>
      <vt:lpstr>Arial</vt:lpstr>
      <vt:lpstr>Inter</vt:lpstr>
      <vt:lpstr>Inter Tight</vt:lpstr>
      <vt:lpstr>JetBrains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Manuel Ernesto Correa Vera</cp:lastModifiedBy>
  <cp:revision>3</cp:revision>
  <dcterms:created xsi:type="dcterms:W3CDTF">2026-05-03T10:28:24Z</dcterms:created>
  <dcterms:modified xsi:type="dcterms:W3CDTF">2026-05-03T19:06:29Z</dcterms:modified>
</cp:coreProperties>
</file>