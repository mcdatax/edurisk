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19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184" y="1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0356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028700"/>
            <a:ext cx="114300" cy="114300"/>
          </a:xfrm>
          <a:prstGeom prst="rect">
            <a:avLst/>
          </a:prstGeom>
          <a:solidFill>
            <a:srgbClr val="4EA8D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1219200" y="952500"/>
            <a:ext cx="270086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B8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EDURISK · DS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002595" y="952500"/>
            <a:ext cx="140910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B8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V1.0 · 2026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500" y="3067050"/>
            <a:ext cx="1687449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kern="0" spc="234" dirty="0">
                <a:solidFill>
                  <a:srgbClr val="7E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TÉCNICO · 10 SLIDES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52500" y="3667125"/>
            <a:ext cx="16874490" cy="1257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0" b="1" kern="0" spc="-336" dirty="0">
                <a:solidFill>
                  <a:srgbClr val="F6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EduRisk</a:t>
            </a:r>
            <a:r>
              <a:rPr lang="en-US" sz="9600" b="1" kern="0" spc="-336" dirty="0">
                <a:solidFill>
                  <a:srgbClr val="4EA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952500" y="5114925"/>
            <a:ext cx="14716125" cy="1257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200" kern="0" spc="-84" dirty="0">
                <a:solidFill>
                  <a:srgbClr val="D8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técnica y decisiones de modelado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952500" y="6867525"/>
            <a:ext cx="1687449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kern="0" spc="48" dirty="0">
                <a:solidFill>
                  <a:srgbClr val="9EC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datos crudos a sistema ML en producción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52500" y="9067800"/>
            <a:ext cx="461120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7E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UCI #697 · 4.424 FILAS · 24 FEATURES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456366" y="9067800"/>
            <a:ext cx="708550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7E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RANDOMFOREST · F1 0.5973 · RECALL DROPOUT 0.6479</a:t>
            </a:r>
            <a:endParaRPr lang="en-US" sz="1800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36EDC905-74AB-A5C0-D1B5-DFEC19BF7CF6}"/>
              </a:ext>
            </a:extLst>
          </p:cNvPr>
          <p:cNvSpPr/>
          <p:nvPr/>
        </p:nvSpPr>
        <p:spPr>
          <a:xfrm>
            <a:off x="952500" y="1995487"/>
            <a:ext cx="1687449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kern="0" spc="234" dirty="0">
                <a:solidFill>
                  <a:srgbClr val="7E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MANUEL CORREA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028700"/>
            <a:ext cx="114300" cy="114300"/>
          </a:xfrm>
          <a:prstGeom prst="rect">
            <a:avLst/>
          </a:prstGeom>
          <a:solidFill>
            <a:srgbClr val="0F274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1219200" y="952500"/>
            <a:ext cx="20944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EL DATASET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145369" y="952500"/>
            <a:ext cx="328583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UCI ML REPOSITORY #697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2500" y="1447800"/>
            <a:ext cx="16383000" cy="9525"/>
          </a:xfrm>
          <a:prstGeom prst="rect">
            <a:avLst/>
          </a:prstGeom>
          <a:solidFill>
            <a:srgbClr val="CDC6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952500" y="1952625"/>
            <a:ext cx="168744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PREDICCIÓN DE ABANDONO Y ÉXITO ACADÉMICO UNIVERSITARIO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52500" y="2714625"/>
            <a:ext cx="1687449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96" dirty="0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dataset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885824" y="4057650"/>
            <a:ext cx="2080617" cy="1714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600" kern="0" spc="-198" dirty="0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4.424</a:t>
            </a:r>
            <a:endParaRPr lang="en-US" sz="6600" dirty="0"/>
          </a:p>
        </p:txBody>
      </p:sp>
      <p:sp>
        <p:nvSpPr>
          <p:cNvPr id="9" name="Text 7"/>
          <p:cNvSpPr/>
          <p:nvPr/>
        </p:nvSpPr>
        <p:spPr>
          <a:xfrm>
            <a:off x="952500" y="6096000"/>
            <a:ext cx="208061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INSTANCIAS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956917" y="3962400"/>
            <a:ext cx="9525" cy="2400300"/>
          </a:xfrm>
          <a:prstGeom prst="rect">
            <a:avLst/>
          </a:prstGeom>
          <a:solidFill>
            <a:srgbClr val="CDC6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271242" y="4267200"/>
            <a:ext cx="1766292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600" kern="0" spc="-198" dirty="0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6600" dirty="0"/>
          </a:p>
        </p:txBody>
      </p:sp>
      <p:sp>
        <p:nvSpPr>
          <p:cNvPr id="12" name="Text 10"/>
          <p:cNvSpPr/>
          <p:nvPr/>
        </p:nvSpPr>
        <p:spPr>
          <a:xfrm>
            <a:off x="3271242" y="5257800"/>
            <a:ext cx="176629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ORIG.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961334" y="3962400"/>
            <a:ext cx="9525" cy="2400300"/>
          </a:xfrm>
          <a:prstGeom prst="rect">
            <a:avLst/>
          </a:prstGeom>
          <a:solidFill>
            <a:srgbClr val="CDC6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5275659" y="4267200"/>
            <a:ext cx="1766292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600" kern="0" spc="-198" dirty="0">
                <a:solidFill>
                  <a:srgbClr val="4EA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6600" dirty="0"/>
          </a:p>
        </p:txBody>
      </p:sp>
      <p:sp>
        <p:nvSpPr>
          <p:cNvPr id="15" name="Text 13"/>
          <p:cNvSpPr/>
          <p:nvPr/>
        </p:nvSpPr>
        <p:spPr>
          <a:xfrm>
            <a:off x="5275659" y="5257800"/>
            <a:ext cx="176629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USADAS (MATRÍCULA)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965752" y="3962400"/>
            <a:ext cx="9525" cy="2400300"/>
          </a:xfrm>
          <a:prstGeom prst="rect">
            <a:avLst/>
          </a:prstGeom>
          <a:solidFill>
            <a:srgbClr val="CDC6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7280077" y="4267200"/>
            <a:ext cx="1766441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600" kern="0" spc="-198" dirty="0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6600" dirty="0"/>
          </a:p>
        </p:txBody>
      </p:sp>
      <p:sp>
        <p:nvSpPr>
          <p:cNvPr id="18" name="Text 16"/>
          <p:cNvSpPr/>
          <p:nvPr/>
        </p:nvSpPr>
        <p:spPr>
          <a:xfrm>
            <a:off x="7280077" y="5257800"/>
            <a:ext cx="176644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VALUES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52500" y="6743700"/>
            <a:ext cx="825835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kern="0" spc="132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DISTRIBUCIÓN DEL TARGET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952500" y="7162800"/>
            <a:ext cx="8017818" cy="552450"/>
          </a:xfrm>
          <a:prstGeom prst="rect">
            <a:avLst/>
          </a:prstGeom>
          <a:ln w="9525">
            <a:solidFill>
              <a:srgbClr val="CDC6B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962025" y="7172325"/>
            <a:ext cx="2581721" cy="533400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1152525" y="7172325"/>
            <a:ext cx="2278173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Dropout · 32.1%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3543746" y="7172325"/>
            <a:ext cx="1608237" cy="533400"/>
          </a:xfrm>
          <a:prstGeom prst="rect">
            <a:avLst/>
          </a:prstGeom>
          <a:solidFill>
            <a:srgbClr val="E8B04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3734246" y="7172325"/>
            <a:ext cx="1303437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2A1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Enrolled · 17.9%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5151983" y="7172325"/>
            <a:ext cx="3808958" cy="533400"/>
          </a:xfrm>
          <a:prstGeom prst="rect">
            <a:avLst/>
          </a:prstGeom>
          <a:solidFill>
            <a:srgbClr val="6FA88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5342483" y="7172325"/>
            <a:ext cx="3542227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Graduate · 50.0%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952500" y="7848600"/>
            <a:ext cx="825835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Clasificación multiclase con desbalance </a:t>
            </a:r>
            <a:r>
              <a:rPr lang="en-US" sz="1800" b="1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moderado</a:t>
            </a:r>
            <a:r>
              <a:rPr lang="en-US" sz="1800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clase minoritaria: Enrolled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503718" y="3962400"/>
            <a:ext cx="9525" cy="5562600"/>
          </a:xfrm>
          <a:prstGeom prst="rect">
            <a:avLst/>
          </a:prstGeom>
          <a:solidFill>
            <a:srgbClr val="CDC6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10046643" y="3962400"/>
            <a:ext cx="750752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kern="0" spc="132" dirty="0">
                <a:solidFill>
                  <a:srgbClr val="4EA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DECISIÓN CLAVE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0046643" y="4438650"/>
            <a:ext cx="7507523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000" b="1" kern="0" spc="-30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24 features del día de matrícula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10046643" y="5581650"/>
            <a:ext cx="7507523" cy="1162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12 features de rendimiento académico (1.º y 2.º semestre) se descartan por </a:t>
            </a:r>
            <a:r>
              <a:rPr lang="en-US" sz="195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leakage </a:t>
            </a:r>
            <a:r>
              <a:rPr lang="en-US" sz="1950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Solo </a:t>
            </a:r>
            <a:r>
              <a:rPr lang="en-US" sz="1950" dirty="0" err="1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queremos</a:t>
            </a:r>
            <a:r>
              <a:rPr lang="en-US" sz="1950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features del día de la </a:t>
            </a:r>
            <a:r>
              <a:rPr lang="en-US" sz="1950" dirty="0" err="1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matrícula</a:t>
            </a:r>
            <a:r>
              <a:rPr lang="en-US" sz="1950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50" dirty="0" err="1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porque</a:t>
            </a:r>
            <a:r>
              <a:rPr lang="en-US" sz="1950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50" dirty="0" err="1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1950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50" dirty="0" err="1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producción</a:t>
            </a:r>
            <a:r>
              <a:rPr lang="en-US" sz="1950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950" dirty="0" err="1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</a:t>
            </a:r>
            <a:r>
              <a:rPr lang="en-US" sz="1950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50" dirty="0" err="1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</a:t>
            </a:r>
            <a:r>
              <a:rPr lang="en-US" sz="1950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50" dirty="0" err="1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</a:t>
            </a:r>
            <a:r>
              <a:rPr lang="en-US" sz="1950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50" dirty="0" err="1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predice</a:t>
            </a:r>
            <a:r>
              <a:rPr lang="en-US" sz="1950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950" dirty="0" err="1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esos</a:t>
            </a:r>
            <a:r>
              <a:rPr lang="en-US" sz="1950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50" dirty="0" err="1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</a:t>
            </a:r>
            <a:r>
              <a:rPr lang="en-US" sz="1950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son </a:t>
            </a:r>
            <a:r>
              <a:rPr lang="en-US" sz="1950" dirty="0" err="1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</a:t>
            </a:r>
            <a:r>
              <a:rPr lang="en-US" sz="1950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50" dirty="0" err="1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únicos</a:t>
            </a:r>
            <a:r>
              <a:rPr lang="en-US" sz="1950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50" dirty="0" err="1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disponibles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10046643" y="7086600"/>
            <a:ext cx="3568154" cy="2028825"/>
          </a:xfrm>
          <a:prstGeom prst="rect">
            <a:avLst/>
          </a:prstGeom>
          <a:solidFill>
            <a:srgbClr val="6FA886">
              <a:alpha val="12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3" name="Shape 31"/>
          <p:cNvSpPr/>
          <p:nvPr/>
        </p:nvSpPr>
        <p:spPr>
          <a:xfrm>
            <a:off x="10046643" y="7086600"/>
            <a:ext cx="28575" cy="2028825"/>
          </a:xfrm>
          <a:prstGeom prst="rect">
            <a:avLst/>
          </a:prstGeom>
          <a:solidFill>
            <a:srgbClr val="6FA88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10303818" y="7277100"/>
            <a:ext cx="317485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08" dirty="0">
                <a:solidFill>
                  <a:srgbClr val="6FA8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MANTENIDAS · 24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0303818" y="7553325"/>
            <a:ext cx="3174851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 err="1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r>
              <a:rPr lang="en-US" sz="1800" dirty="0" err="1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ocioeconómicas</a:t>
            </a:r>
            <a:r>
              <a:rPr lang="en-US" sz="1800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modo de admisión, curso, beca, deuda, edad…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3767197" y="7086600"/>
            <a:ext cx="3568303" cy="2028825"/>
          </a:xfrm>
          <a:prstGeom prst="rect">
            <a:avLst/>
          </a:prstGeom>
          <a:solidFill>
            <a:srgbClr val="D97757">
              <a:alpha val="1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7" name="Shape 35"/>
          <p:cNvSpPr/>
          <p:nvPr/>
        </p:nvSpPr>
        <p:spPr>
          <a:xfrm>
            <a:off x="13767197" y="7086600"/>
            <a:ext cx="28575" cy="2028825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8" name="Text 36"/>
          <p:cNvSpPr/>
          <p:nvPr/>
        </p:nvSpPr>
        <p:spPr>
          <a:xfrm>
            <a:off x="14024372" y="7277100"/>
            <a:ext cx="317500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08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DESCARTADAS · 12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14024372" y="7553325"/>
            <a:ext cx="3175004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Curricular units · 1.er y 2.º semestre (credited / enrolled / approved / grade…)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028700"/>
            <a:ext cx="114300" cy="114300"/>
          </a:xfrm>
          <a:prstGeom prst="rect">
            <a:avLst/>
          </a:prstGeom>
          <a:solidFill>
            <a:srgbClr val="0F274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1219200" y="952500"/>
            <a:ext cx="36056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FEATURE ENGINEERING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095833" y="952500"/>
            <a:ext cx="436685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FEATURES DERIVADAS · 24 → 28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500" y="1943100"/>
            <a:ext cx="168744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REDUCIR MULTICOLINEALIDAD · CAPTURAR NO-LINEALIDADES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52500" y="2705100"/>
            <a:ext cx="1687449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96" dirty="0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952500" y="3876675"/>
            <a:ext cx="8077200" cy="2105025"/>
          </a:xfrm>
          <a:prstGeom prst="rect">
            <a:avLst/>
          </a:prstGeom>
          <a:solidFill>
            <a:srgbClr val="FFFFFF">
              <a:alpha val="50000"/>
            </a:srgbClr>
          </a:solidFill>
          <a:ln w="9525">
            <a:solidFill>
              <a:srgbClr val="CDC6B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1304925" y="4191000"/>
            <a:ext cx="759352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financial_risk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304925" y="4600575"/>
            <a:ext cx="759352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EA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Debtor + (1 − Tuition_fees_up_to_date)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304925" y="4962525"/>
            <a:ext cx="7593521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>
              <a:lnSpc>
                <a:spcPct val="145000"/>
              </a:lnSpc>
            </a:pPr>
            <a:r>
              <a:rPr lang="en-US" sz="1950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0-2 </a:t>
            </a:r>
            <a:r>
              <a:rPr lang="en-US" sz="1950" dirty="0" err="1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</a:t>
            </a:r>
            <a:r>
              <a:rPr lang="en-US" sz="1950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50" dirty="0" err="1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</a:t>
            </a:r>
            <a:r>
              <a:rPr lang="en-US" sz="1950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50" dirty="0" err="1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</a:t>
            </a:r>
            <a:r>
              <a:rPr lang="en-US" sz="1950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dos </a:t>
            </a:r>
            <a:r>
              <a:rPr lang="en-US" sz="1950" dirty="0" err="1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</a:t>
            </a:r>
            <a:r>
              <a:rPr lang="en-US" sz="1950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50" dirty="0" err="1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financieros</a:t>
            </a:r>
            <a:endParaRPr lang="en-US" sz="1950" dirty="0">
              <a:solidFill>
                <a:srgbClr val="3B4A5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ct val="145000"/>
              </a:lnSpc>
            </a:pPr>
            <a:r>
              <a:rPr lang="en-US" sz="1950" dirty="0" err="1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</a:t>
            </a:r>
            <a:r>
              <a:rPr lang="en-US" sz="1950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50" dirty="0" err="1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discriminantes</a:t>
            </a:r>
            <a:r>
              <a:rPr lang="en-US" sz="1950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del EDA </a:t>
            </a:r>
            <a:r>
              <a:rPr lang="en-US" sz="1950" dirty="0" err="1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1950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50" dirty="0" err="1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</a:t>
            </a:r>
            <a:r>
              <a:rPr lang="en-US" sz="1950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50" dirty="0" err="1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señal</a:t>
            </a:r>
            <a:r>
              <a:rPr lang="en-US" sz="1950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50" dirty="0" err="1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única</a:t>
            </a:r>
            <a:r>
              <a:rPr lang="en-US" sz="1950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interpretable.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258300" y="3876675"/>
            <a:ext cx="8077200" cy="2105025"/>
          </a:xfrm>
          <a:prstGeom prst="rect">
            <a:avLst/>
          </a:prstGeom>
          <a:solidFill>
            <a:srgbClr val="FFFFFF">
              <a:alpha val="50000"/>
            </a:srgbClr>
          </a:solidFill>
          <a:ln w="9525">
            <a:solidFill>
              <a:srgbClr val="CDC6B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9610725" y="4191000"/>
            <a:ext cx="759352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parents_qualification_avg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610725" y="4600575"/>
            <a:ext cx="759352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EA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mean(Mother_qual, Father_qual)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610725" y="4962525"/>
            <a:ext cx="7593521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>
              <a:lnSpc>
                <a:spcPct val="145000"/>
              </a:lnSpc>
            </a:pPr>
            <a:r>
              <a:rPr lang="en-US" sz="1950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</a:t>
            </a:r>
            <a:r>
              <a:rPr lang="en-US" sz="1950" dirty="0" err="1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multicolinealidad</a:t>
            </a:r>
            <a:r>
              <a:rPr lang="en-US" sz="1950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(r=0.54) y </a:t>
            </a:r>
            <a:r>
              <a:rPr lang="en-US" sz="1950" dirty="0" err="1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</a:t>
            </a:r>
            <a:r>
              <a:rPr lang="en-US" sz="1950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50" dirty="0" err="1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</a:t>
            </a:r>
            <a:r>
              <a:rPr lang="en-US" sz="1950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50" dirty="0" err="1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nivel</a:t>
            </a:r>
            <a:endParaRPr lang="en-US" sz="1950" dirty="0">
              <a:solidFill>
                <a:srgbClr val="3B4A5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ct val="145000"/>
              </a:lnSpc>
            </a:pPr>
            <a:r>
              <a:rPr lang="en-US" sz="1950" dirty="0" err="1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educativo</a:t>
            </a:r>
            <a:r>
              <a:rPr lang="en-US" sz="1950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familiar </a:t>
            </a:r>
            <a:r>
              <a:rPr lang="en-US" sz="1950" dirty="0" err="1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</a:t>
            </a:r>
            <a:r>
              <a:rPr lang="en-US" sz="1950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50" dirty="0" err="1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</a:t>
            </a:r>
            <a:r>
              <a:rPr lang="en-US" sz="1950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50" dirty="0" err="1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único</a:t>
            </a:r>
            <a:r>
              <a:rPr lang="en-US" sz="1950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6210300"/>
            <a:ext cx="8077200" cy="2105025"/>
          </a:xfrm>
          <a:prstGeom prst="rect">
            <a:avLst/>
          </a:prstGeom>
          <a:solidFill>
            <a:srgbClr val="FFFFFF">
              <a:alpha val="50000"/>
            </a:srgbClr>
          </a:solidFill>
          <a:ln w="9525">
            <a:solidFill>
              <a:srgbClr val="CDC6B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1304925" y="6524625"/>
            <a:ext cx="759352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age_group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304925" y="6934200"/>
            <a:ext cx="759352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EA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bins = [0–20, 21–25, 26–35, 35+]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304925" y="7296150"/>
            <a:ext cx="7593521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Discretiza Age at enrollment en </a:t>
            </a:r>
            <a:r>
              <a:rPr lang="en-US" sz="1950" dirty="0" err="1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tramos</a:t>
            </a:r>
            <a:r>
              <a:rPr lang="en-US" sz="1950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50" dirty="0" err="1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accionables</a:t>
            </a:r>
            <a:r>
              <a:rPr lang="en-US" sz="1950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la relación con dropout no es monótona.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258300" y="6210300"/>
            <a:ext cx="8077200" cy="2105025"/>
          </a:xfrm>
          <a:prstGeom prst="rect">
            <a:avLst/>
          </a:prstGeom>
          <a:solidFill>
            <a:srgbClr val="FFFFFF">
              <a:alpha val="50000"/>
            </a:srgbClr>
          </a:solidFill>
          <a:ln w="9525">
            <a:solidFill>
              <a:srgbClr val="CDC6B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9610725" y="6524625"/>
            <a:ext cx="759352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is_first_choice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9610725" y="6934200"/>
            <a:ext cx="759352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EA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Application_order == 1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9610725" y="7296150"/>
            <a:ext cx="7593521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>
              <a:lnSpc>
                <a:spcPct val="145000"/>
              </a:lnSpc>
            </a:pPr>
            <a:r>
              <a:rPr lang="en-US" sz="1950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Proxy </a:t>
            </a:r>
            <a:r>
              <a:rPr lang="en-US" sz="1950" dirty="0" err="1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binario</a:t>
            </a:r>
            <a:r>
              <a:rPr lang="en-US" sz="1950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</a:t>
            </a:r>
            <a:r>
              <a:rPr lang="en-US" sz="1950" dirty="0" err="1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motivación</a:t>
            </a:r>
            <a:r>
              <a:rPr lang="en-US" sz="1950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1950" dirty="0" err="1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Simplifica</a:t>
            </a:r>
            <a:r>
              <a:rPr lang="en-US" sz="1950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50" dirty="0" err="1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Application_order</a:t>
            </a:r>
            <a:endParaRPr lang="en-US" sz="1950" dirty="0">
              <a:solidFill>
                <a:srgbClr val="3B4A5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ct val="145000"/>
              </a:lnSpc>
            </a:pPr>
            <a:r>
              <a:rPr lang="en-US" sz="1950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(8 </a:t>
            </a:r>
            <a:r>
              <a:rPr lang="en-US" sz="1950" dirty="0" err="1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valores</a:t>
            </a:r>
            <a:r>
              <a:rPr lang="en-US" sz="1950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 </a:t>
            </a:r>
            <a:r>
              <a:rPr lang="en-US" sz="1950" dirty="0" err="1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ruido</a:t>
            </a:r>
            <a:r>
              <a:rPr lang="en-US" sz="1950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</a:t>
            </a:r>
            <a:r>
              <a:rPr lang="en-US" sz="1950" dirty="0" err="1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1950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50" dirty="0" err="1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</a:t>
            </a:r>
            <a:r>
              <a:rPr lang="en-US" sz="1950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50" dirty="0" err="1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señal</a:t>
            </a:r>
            <a:r>
              <a:rPr lang="en-US" sz="1950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50" dirty="0" err="1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limpia</a:t>
            </a:r>
            <a:r>
              <a:rPr lang="en-US" sz="1950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</a:t>
            </a:r>
            <a:r>
              <a:rPr lang="en-US" sz="1950" dirty="0" err="1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accionable</a:t>
            </a:r>
            <a:r>
              <a:rPr lang="en-US" sz="1950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952500" y="8696325"/>
            <a:ext cx="16383000" cy="1133475"/>
          </a:xfrm>
          <a:prstGeom prst="rect">
            <a:avLst/>
          </a:prstGeom>
          <a:solidFill>
            <a:srgbClr val="EBE5D8"/>
          </a:solidFill>
          <a:ln/>
        </p:spPr>
        <p:txBody>
          <a:bodyPr/>
          <a:lstStyle/>
          <a:p>
            <a:endParaRPr lang="es-ES" dirty="0"/>
          </a:p>
        </p:txBody>
      </p:sp>
      <p:sp>
        <p:nvSpPr>
          <p:cNvPr id="24" name="Text 22"/>
          <p:cNvSpPr/>
          <p:nvPr/>
        </p:nvSpPr>
        <p:spPr>
          <a:xfrm>
            <a:off x="1219200" y="9153525"/>
            <a:ext cx="176331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150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JUSTIFICACIÓN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3096816" y="8886825"/>
            <a:ext cx="9525" cy="457200"/>
          </a:xfrm>
          <a:prstGeom prst="rect">
            <a:avLst/>
          </a:prstGeom>
          <a:solidFill>
            <a:srgbClr val="CDC6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3295799" y="8886825"/>
            <a:ext cx="14186191" cy="790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 err="1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Capturar</a:t>
            </a:r>
            <a:r>
              <a:rPr lang="en-US" sz="1950" dirty="0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50" dirty="0" err="1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conceptos</a:t>
            </a:r>
            <a:r>
              <a:rPr lang="en-US" sz="1950" dirty="0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</a:t>
            </a:r>
            <a:r>
              <a:rPr lang="en-US" sz="1950" dirty="0" err="1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negocio</a:t>
            </a:r>
            <a:r>
              <a:rPr lang="en-US" sz="1950" dirty="0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50" dirty="0" err="1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</a:t>
            </a:r>
            <a:r>
              <a:rPr lang="en-US" sz="1950" dirty="0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scores </a:t>
            </a:r>
            <a:r>
              <a:rPr lang="en-US" sz="1950" dirty="0" err="1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únicos</a:t>
            </a:r>
            <a:r>
              <a:rPr lang="en-US" sz="1950" dirty="0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950" dirty="0" err="1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reducir</a:t>
            </a:r>
            <a:r>
              <a:rPr lang="en-US" sz="1950" dirty="0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50" dirty="0" err="1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multicolinealidad</a:t>
            </a:r>
            <a:r>
              <a:rPr lang="en-US" sz="1950" dirty="0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50" dirty="0" err="1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1950" dirty="0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variables </a:t>
            </a:r>
            <a:r>
              <a:rPr lang="en-US" sz="1950" dirty="0" err="1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parentales</a:t>
            </a:r>
            <a:r>
              <a:rPr lang="en-US" sz="1950" dirty="0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(r=0.54) y </a:t>
            </a:r>
            <a:r>
              <a:rPr lang="en-US" sz="1950" dirty="0" err="1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exponer</a:t>
            </a:r>
            <a:endParaRPr lang="en-US" sz="1950" dirty="0">
              <a:solidFill>
                <a:srgbClr val="11202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950" dirty="0" err="1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relaciones</a:t>
            </a:r>
            <a:r>
              <a:rPr lang="en-US" sz="1950" dirty="0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</a:t>
            </a:r>
            <a:r>
              <a:rPr lang="en-US" sz="1950" dirty="0" err="1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lineales</a:t>
            </a:r>
            <a:r>
              <a:rPr lang="en-US" sz="1950" dirty="0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50" dirty="0" err="1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</a:t>
            </a:r>
            <a:r>
              <a:rPr lang="en-US" sz="1950" dirty="0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LR no </a:t>
            </a:r>
            <a:r>
              <a:rPr lang="en-US" sz="1950" dirty="0" err="1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aprende</a:t>
            </a:r>
            <a:r>
              <a:rPr lang="en-US" sz="1950" dirty="0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50" dirty="0" err="1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directamente</a:t>
            </a:r>
            <a:r>
              <a:rPr lang="en-US" sz="1950" dirty="0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F274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952500" y="1028700"/>
            <a:ext cx="114300" cy="114300"/>
          </a:xfrm>
          <a:prstGeom prst="rect">
            <a:avLst/>
          </a:prstGeom>
          <a:solidFill>
            <a:srgbClr val="4EA8D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1219200" y="952500"/>
            <a:ext cx="331480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B8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PREPROCESAMIENTO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764119" y="952500"/>
            <a:ext cx="573852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B8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SKLEARN.COMPOSE.COLUMNTRANSFORMER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52500" y="1447800"/>
            <a:ext cx="16383000" cy="9525"/>
          </a:xfrm>
          <a:prstGeom prst="rect">
            <a:avLst/>
          </a:prstGeom>
          <a:solidFill>
            <a:srgbClr val="2A425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952500" y="1952625"/>
            <a:ext cx="168744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7E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SKLEARN · SIN DATA LEAKAGE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52500" y="2714625"/>
            <a:ext cx="1687449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96" dirty="0">
                <a:solidFill>
                  <a:srgbClr val="F3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Preprocesamiento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952500" y="3886200"/>
            <a:ext cx="8196114" cy="438150"/>
          </a:xfrm>
          <a:prstGeom prst="rect">
            <a:avLst/>
          </a:prstGeom>
          <a:solidFill>
            <a:srgbClr val="0A1C3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952500" y="4314825"/>
            <a:ext cx="8196114" cy="9525"/>
          </a:xfrm>
          <a:prstGeom prst="rect">
            <a:avLst/>
          </a:prstGeom>
          <a:solidFill>
            <a:srgbClr val="1F3A5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1104900" y="4043363"/>
            <a:ext cx="114300" cy="114300"/>
          </a:xfrm>
          <a:prstGeom prst="ellipse">
            <a:avLst/>
          </a:prstGeom>
          <a:solidFill>
            <a:srgbClr val="2C486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1295400" y="4043363"/>
            <a:ext cx="114300" cy="114300"/>
          </a:xfrm>
          <a:prstGeom prst="ellipse">
            <a:avLst/>
          </a:prstGeom>
          <a:solidFill>
            <a:srgbClr val="2C486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1485900" y="4043363"/>
            <a:ext cx="114300" cy="114300"/>
          </a:xfrm>
          <a:prstGeom prst="ellipse">
            <a:avLst/>
          </a:prstGeom>
          <a:solidFill>
            <a:srgbClr val="2C486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1828800" y="4000500"/>
            <a:ext cx="226382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08" dirty="0">
                <a:solidFill>
                  <a:srgbClr val="7E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src / data_processing.py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952500" y="4324350"/>
            <a:ext cx="8196114" cy="4114800"/>
          </a:xfrm>
          <a:prstGeom prst="rect">
            <a:avLst/>
          </a:prstGeom>
          <a:solidFill>
            <a:srgbClr val="0A1C3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952500" y="4324350"/>
            <a:ext cx="28575" cy="4114800"/>
          </a:xfrm>
          <a:prstGeom prst="rect">
            <a:avLst/>
          </a:prstGeom>
          <a:solidFill>
            <a:srgbClr val="4EA8D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1285875" y="4591050"/>
            <a:ext cx="7803822" cy="3619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650" i="1" dirty="0">
                <a:solidFill>
                  <a:srgbClr val="6F8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ColumnTransformer · 3 grupos disjuntos </a:t>
            </a:r>
            <a:r>
              <a:rPr lang="en-US" sz="1650" dirty="0">
                <a:solidFill>
                  <a:srgbClr val="FF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preprocessor</a:t>
            </a:r>
            <a:r>
              <a:rPr lang="en-US" sz="1650" dirty="0">
                <a:solidFill>
                  <a:srgbClr val="D6E3F0"/>
                </a:solidFill>
                <a:highlight>
                  <a:srgbClr val="0A1C3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= </a:t>
            </a:r>
            <a:r>
              <a:rPr lang="en-US" sz="1650" dirty="0">
                <a:solidFill>
                  <a:srgbClr val="4EA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ColumnTransformer </a:t>
            </a:r>
            <a:r>
              <a:rPr lang="en-US" sz="1650" dirty="0">
                <a:solidFill>
                  <a:srgbClr val="D6E3F0"/>
                </a:solidFill>
                <a:highlight>
                  <a:srgbClr val="0A1C3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([</a:t>
            </a:r>
            <a:endParaRPr lang="en-US" sz="16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650" dirty="0">
                <a:solidFill>
                  <a:srgbClr val="D6E3F0"/>
                </a:solidFill>
                <a:highlight>
                  <a:srgbClr val="0A1C3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 ( </a:t>
            </a:r>
            <a:endParaRPr lang="en-US" sz="16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650" dirty="0">
                <a:solidFill>
                  <a:srgbClr val="8FD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"num"</a:t>
            </a:r>
            <a:r>
              <a:rPr lang="en-US" sz="1650" dirty="0">
                <a:solidFill>
                  <a:srgbClr val="D6E3F0"/>
                </a:solidFill>
                <a:highlight>
                  <a:srgbClr val="0A1C3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,  </a:t>
            </a:r>
            <a:r>
              <a:rPr lang="en-US" sz="1650" dirty="0">
                <a:solidFill>
                  <a:srgbClr val="4EA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StandardScaler </a:t>
            </a:r>
            <a:r>
              <a:rPr lang="en-US" sz="1650" dirty="0">
                <a:solidFill>
                  <a:srgbClr val="D6E3F0"/>
                </a:solidFill>
                <a:highlight>
                  <a:srgbClr val="0A1C3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(),            num_cols),</a:t>
            </a:r>
            <a:endParaRPr lang="en-US" sz="16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650" dirty="0">
                <a:solidFill>
                  <a:srgbClr val="D6E3F0"/>
                </a:solidFill>
                <a:highlight>
                  <a:srgbClr val="0A1C3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 ( </a:t>
            </a:r>
            <a:endParaRPr lang="en-US" sz="16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650" dirty="0">
                <a:solidFill>
                  <a:srgbClr val="8FD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"cat"</a:t>
            </a:r>
            <a:r>
              <a:rPr lang="en-US" sz="1650" dirty="0">
                <a:solidFill>
                  <a:srgbClr val="D6E3F0"/>
                </a:solidFill>
                <a:highlight>
                  <a:srgbClr val="0A1C3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,  </a:t>
            </a:r>
            <a:r>
              <a:rPr lang="en-US" sz="1650" dirty="0">
                <a:solidFill>
                  <a:srgbClr val="4EA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OneHotEncoder</a:t>
            </a:r>
            <a:r>
              <a:rPr lang="en-US" sz="1650" dirty="0">
                <a:solidFill>
                  <a:srgbClr val="D6E3F0"/>
                </a:solidFill>
                <a:highlight>
                  <a:srgbClr val="0A1C3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(drop=</a:t>
            </a:r>
            <a:r>
              <a:rPr lang="en-US" sz="1650" dirty="0">
                <a:solidFill>
                  <a:srgbClr val="8FD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"first" </a:t>
            </a:r>
            <a:r>
              <a:rPr lang="en-US" sz="1650" dirty="0">
                <a:solidFill>
                  <a:srgbClr val="D6E3F0"/>
                </a:solidFill>
                <a:highlight>
                  <a:srgbClr val="0A1C3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), nom_cols),</a:t>
            </a:r>
            <a:endParaRPr lang="en-US" sz="16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650" dirty="0">
                <a:solidFill>
                  <a:srgbClr val="D6E3F0"/>
                </a:solidFill>
                <a:highlight>
                  <a:srgbClr val="0A1C3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 ( </a:t>
            </a:r>
            <a:endParaRPr lang="en-US" sz="16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650" dirty="0">
                <a:solidFill>
                  <a:srgbClr val="8FD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"pass"</a:t>
            </a:r>
            <a:r>
              <a:rPr lang="en-US" sz="1650" dirty="0">
                <a:solidFill>
                  <a:srgbClr val="D6E3F0"/>
                </a:solidFill>
                <a:highlight>
                  <a:srgbClr val="0A1C3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650" dirty="0">
                <a:solidFill>
                  <a:srgbClr val="8FD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"passthrough" </a:t>
            </a:r>
            <a:r>
              <a:rPr lang="en-US" sz="1650" dirty="0">
                <a:solidFill>
                  <a:srgbClr val="D6E3F0"/>
                </a:solidFill>
                <a:highlight>
                  <a:srgbClr val="0A1C3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,                 bin_ord),</a:t>
            </a:r>
            <a:endParaRPr lang="en-US" sz="16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650" dirty="0">
                <a:solidFill>
                  <a:srgbClr val="D6E3F0"/>
                </a:solidFill>
                <a:highlight>
                  <a:srgbClr val="0A1C3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]) </a:t>
            </a:r>
            <a:endParaRPr lang="en-US" sz="16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650" dirty="0">
                <a:solidFill>
                  <a:srgbClr val="FF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</a:t>
            </a:r>
            <a:r>
              <a:rPr lang="en-US" sz="1650" dirty="0">
                <a:solidFill>
                  <a:srgbClr val="D6E3F0"/>
                </a:solidFill>
                <a:highlight>
                  <a:srgbClr val="0A1C3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= </a:t>
            </a:r>
            <a:r>
              <a:rPr lang="en-US" sz="1650" dirty="0">
                <a:solidFill>
                  <a:srgbClr val="4EA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</a:t>
            </a:r>
            <a:r>
              <a:rPr lang="en-US" sz="1650" dirty="0">
                <a:solidFill>
                  <a:srgbClr val="D6E3F0"/>
                </a:solidFill>
                <a:highlight>
                  <a:srgbClr val="0A1C3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([</a:t>
            </a:r>
            <a:endParaRPr lang="en-US" sz="16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650" dirty="0">
                <a:solidFill>
                  <a:srgbClr val="D6E3F0"/>
                </a:solidFill>
                <a:highlight>
                  <a:srgbClr val="0A1C3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 ( </a:t>
            </a:r>
            <a:endParaRPr lang="en-US" sz="16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650" dirty="0">
                <a:solidFill>
                  <a:srgbClr val="8FD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"prep" </a:t>
            </a:r>
            <a:r>
              <a:rPr lang="en-US" sz="1650" dirty="0">
                <a:solidFill>
                  <a:srgbClr val="D6E3F0"/>
                </a:solidFill>
                <a:highlight>
                  <a:srgbClr val="0A1C3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,  preprocessor),</a:t>
            </a:r>
            <a:endParaRPr lang="en-US" sz="16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650" dirty="0">
                <a:solidFill>
                  <a:srgbClr val="D6E3F0"/>
                </a:solidFill>
                <a:highlight>
                  <a:srgbClr val="0A1C3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 ( </a:t>
            </a:r>
            <a:endParaRPr lang="en-US" sz="16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650" dirty="0">
                <a:solidFill>
                  <a:srgbClr val="8FD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"model"</a:t>
            </a:r>
            <a:r>
              <a:rPr lang="en-US" sz="1650" dirty="0">
                <a:solidFill>
                  <a:srgbClr val="D6E3F0"/>
                </a:solidFill>
                <a:highlight>
                  <a:srgbClr val="0A1C3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650" dirty="0">
                <a:solidFill>
                  <a:srgbClr val="4EA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RandomForestClassifier </a:t>
            </a:r>
            <a:r>
              <a:rPr lang="en-US" sz="1650" dirty="0">
                <a:solidFill>
                  <a:srgbClr val="D6E3F0"/>
                </a:solidFill>
                <a:highlight>
                  <a:srgbClr val="0A1C3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(...)),</a:t>
            </a:r>
            <a:endParaRPr lang="en-US" sz="16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650" dirty="0">
                <a:solidFill>
                  <a:srgbClr val="D6E3F0"/>
                </a:solidFill>
                <a:highlight>
                  <a:srgbClr val="0A1C3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])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9529614" y="3886200"/>
            <a:ext cx="7805886" cy="1171575"/>
          </a:xfrm>
          <a:prstGeom prst="rect">
            <a:avLst/>
          </a:prstGeom>
          <a:solidFill>
            <a:srgbClr val="4EA8DE">
              <a:alpha val="1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9529614" y="3886200"/>
            <a:ext cx="28575" cy="1171575"/>
          </a:xfrm>
          <a:prstGeom prst="rect">
            <a:avLst/>
          </a:prstGeom>
          <a:solidFill>
            <a:srgbClr val="4EA8D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9786789" y="4148137"/>
            <a:ext cx="7620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dirty="0">
                <a:solidFill>
                  <a:srgbClr val="4EA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9786789" y="4643438"/>
            <a:ext cx="7620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84" dirty="0">
                <a:solidFill>
                  <a:srgbClr val="9EB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663089" y="4057650"/>
            <a:ext cx="663712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3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StandardScaler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663089" y="4410075"/>
            <a:ext cx="6637126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9EB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Continuas: Age, Admission grade, Prev. qual. grade, GDP, Inflation, Unemployment, parents_qual_avg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9529614" y="5286375"/>
            <a:ext cx="7805886" cy="1171575"/>
          </a:xfrm>
          <a:prstGeom prst="rect">
            <a:avLst/>
          </a:prstGeom>
          <a:solidFill>
            <a:srgbClr val="E8B04B">
              <a:alpha val="1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9529614" y="5286375"/>
            <a:ext cx="28575" cy="1171575"/>
          </a:xfrm>
          <a:prstGeom prst="rect">
            <a:avLst/>
          </a:prstGeom>
          <a:solidFill>
            <a:srgbClr val="E8B04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9786789" y="5548313"/>
            <a:ext cx="7620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dirty="0">
                <a:solidFill>
                  <a:srgbClr val="E8B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9786789" y="6043613"/>
            <a:ext cx="7620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84" dirty="0">
                <a:solidFill>
                  <a:srgbClr val="9EB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0663089" y="5457825"/>
            <a:ext cx="663712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3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OneHotEncoder(drop="first")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663089" y="5810250"/>
            <a:ext cx="6637126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9EB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Nominales: Course, Application mode, Marital status, Nationality, Mother/Father qual. &amp; occ., age_group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9529614" y="6686550"/>
            <a:ext cx="7805886" cy="1171575"/>
          </a:xfrm>
          <a:prstGeom prst="rect">
            <a:avLst/>
          </a:prstGeom>
          <a:solidFill>
            <a:srgbClr val="6FA886">
              <a:alpha val="1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" name="Shape 29"/>
          <p:cNvSpPr/>
          <p:nvPr/>
        </p:nvSpPr>
        <p:spPr>
          <a:xfrm>
            <a:off x="9529614" y="6686550"/>
            <a:ext cx="28575" cy="1171575"/>
          </a:xfrm>
          <a:prstGeom prst="rect">
            <a:avLst/>
          </a:prstGeom>
          <a:solidFill>
            <a:srgbClr val="6FA88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9786789" y="6948488"/>
            <a:ext cx="7620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dirty="0">
                <a:solidFill>
                  <a:srgbClr val="6FA8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9786789" y="7443788"/>
            <a:ext cx="7620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84" dirty="0">
                <a:solidFill>
                  <a:srgbClr val="9EB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0663089" y="6858000"/>
            <a:ext cx="663712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3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passthrough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0663089" y="7210425"/>
            <a:ext cx="6637126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9EB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Binarias/ordinales: Gender, Debtor, Tuition fees, Scholarship, Displaced, financial_risk, is_first_choice…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952500" y="8667750"/>
            <a:ext cx="16383000" cy="857250"/>
          </a:xfrm>
          <a:prstGeom prst="rect">
            <a:avLst/>
          </a:prstGeom>
          <a:ln w="9525">
            <a:solidFill>
              <a:srgbClr val="2A42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1228725" y="8848725"/>
            <a:ext cx="1632204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EA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 senior · </a:t>
            </a:r>
            <a:r>
              <a:rPr lang="en-US" sz="1650" dirty="0">
                <a:solidFill>
                  <a:srgbClr val="D8E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OHE con drop="first" evita la trampa de la dummy variable y mejora la convergencia de LogisticRegression. Todo vive dentro del Pipeline y el scaler se ajusta solo en el train fold de cada CV split.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028700"/>
            <a:ext cx="114300" cy="114300"/>
          </a:xfrm>
          <a:prstGeom prst="rect">
            <a:avLst/>
          </a:prstGeom>
          <a:solidFill>
            <a:srgbClr val="0F274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1219200" y="952500"/>
            <a:ext cx="504027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BÚSQUEDA DE HIPERPARÁMETROS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720215" y="952500"/>
            <a:ext cx="578374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CV=5 · SCORING=F1_WEIGHTED · N_JOBS=−1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2500" y="1447800"/>
            <a:ext cx="16383000" cy="9525"/>
          </a:xfrm>
          <a:prstGeom prst="rect">
            <a:avLst/>
          </a:prstGeom>
          <a:solidFill>
            <a:srgbClr val="CDC6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952500" y="1952625"/>
            <a:ext cx="168744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ESTRATEGIA MIXTA SEGÚN TAMAÑO DEL ESPACIO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52500" y="2714625"/>
            <a:ext cx="1687449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96" dirty="0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Búsqueda de hiperparámetros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952500" y="3886200"/>
            <a:ext cx="8039100" cy="2838450"/>
          </a:xfrm>
          <a:prstGeom prst="rect">
            <a:avLst/>
          </a:prstGeom>
          <a:solidFill>
            <a:srgbClr val="FFFFFF"/>
          </a:solidFill>
          <a:ln w="9525">
            <a:solidFill>
              <a:srgbClr val="CDC6B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1343025" y="4238625"/>
            <a:ext cx="234999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kern="0" spc="132" dirty="0">
                <a:solidFill>
                  <a:srgbClr val="4EA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ESPACIO PEQUEÑO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7690247" y="4257675"/>
            <a:ext cx="98702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exhaustivo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43025" y="4600575"/>
            <a:ext cx="7475792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b="1" kern="0" spc="-33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GridSearchCV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1343025" y="5229225"/>
            <a:ext cx="747579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LogisticRegression · RandomForest · ExtraTrees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43025" y="5743575"/>
            <a:ext cx="7475792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 24 - 60 combinaciones barrido completo del grid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9296400" y="3886200"/>
            <a:ext cx="8039100" cy="2838450"/>
          </a:xfrm>
          <a:prstGeom prst="rect">
            <a:avLst/>
          </a:prstGeom>
          <a:solidFill>
            <a:srgbClr val="FFFFFF"/>
          </a:solidFill>
          <a:ln w="9525">
            <a:solidFill>
              <a:srgbClr val="CDC6B6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5" name="Text 13"/>
          <p:cNvSpPr/>
          <p:nvPr/>
        </p:nvSpPr>
        <p:spPr>
          <a:xfrm>
            <a:off x="9686925" y="4238625"/>
            <a:ext cx="21818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kern="0" spc="132" dirty="0">
                <a:solidFill>
                  <a:srgbClr val="4EA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ESPACIO GRANDE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5991880" y="4257675"/>
            <a:ext cx="102929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estocástico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686925" y="4600575"/>
            <a:ext cx="7475792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b="1" kern="0" spc="-33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RandomizedSearchCV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9686925" y="5229225"/>
            <a:ext cx="747579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· GradientBoosting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86925" y="5743575"/>
            <a:ext cx="7475792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n_iter = 30 muestreo sobre 6+ HPs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952500" y="7105650"/>
            <a:ext cx="11849100" cy="2038350"/>
          </a:xfrm>
          <a:prstGeom prst="rect">
            <a:avLst/>
          </a:prstGeom>
          <a:solidFill>
            <a:srgbClr val="EBE5D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1257300" y="7372350"/>
            <a:ext cx="1157668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150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F1_WEIGHTED Y NO RECALL DIRECTO?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57300" y="7724775"/>
            <a:ext cx="11576685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Optimizar recall en GridSearch lleva a modelos degenerados (predicen todo Dropout). f1_weighted mantiene el balance precision/recall ponderado </a:t>
            </a:r>
            <a:r>
              <a:rPr lang="en-US" sz="1800" dirty="0" err="1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</a:t>
            </a:r>
            <a:r>
              <a:rPr lang="en-US" sz="1800" dirty="0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dirty="0" err="1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número</a:t>
            </a:r>
            <a:r>
              <a:rPr lang="en-US" sz="1800" dirty="0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</a:t>
            </a:r>
            <a:r>
              <a:rPr lang="en-US" sz="1800" dirty="0" err="1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muestras</a:t>
            </a:r>
            <a:r>
              <a:rPr lang="en-US" sz="1800" dirty="0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(support); se </a:t>
            </a:r>
            <a:r>
              <a:rPr lang="en-US" sz="1800" dirty="0" err="1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evalúa</a:t>
            </a:r>
            <a:r>
              <a:rPr lang="en-US" sz="1800" dirty="0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dirty="0" err="1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</a:t>
            </a:r>
            <a:r>
              <a:rPr lang="en-US" sz="1800" dirty="0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b="1" dirty="0" err="1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equilibrio</a:t>
            </a:r>
            <a:r>
              <a:rPr lang="en-US" sz="1800" dirty="0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entre </a:t>
            </a:r>
            <a:r>
              <a:rPr lang="en-US" sz="1800" b="1" dirty="0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y FP </a:t>
            </a:r>
            <a:r>
              <a:rPr lang="en-US" sz="1800" dirty="0" err="1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1800" dirty="0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 </a:t>
            </a:r>
            <a:r>
              <a:rPr lang="en-US" sz="1800" dirty="0" err="1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selección</a:t>
            </a:r>
            <a:r>
              <a:rPr lang="en-US" sz="1800" dirty="0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final del </a:t>
            </a:r>
            <a:r>
              <a:rPr lang="en-US" sz="1800" b="1" dirty="0" err="1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</a:t>
            </a:r>
            <a:r>
              <a:rPr lang="en-US" sz="1800" dirty="0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3106400" y="7105650"/>
            <a:ext cx="4229100" cy="2038350"/>
          </a:xfrm>
          <a:prstGeom prst="rect">
            <a:avLst/>
          </a:prstGeom>
          <a:solidFill>
            <a:srgbClr val="0F274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13411200" y="7372350"/>
            <a:ext cx="372808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150" dirty="0">
                <a:solidFill>
                  <a:srgbClr val="4EA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CROSS-VALIDATION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3411200" y="7705725"/>
            <a:ext cx="3728085" cy="1209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950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StratifiedKFold </a:t>
            </a:r>
            <a:r>
              <a:rPr lang="en-US" sz="1950" dirty="0">
                <a:solidFill>
                  <a:srgbClr val="9EB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k=5, shuffle=True, random_state=42</a:t>
            </a:r>
            <a:endParaRPr lang="en-US" sz="1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028700"/>
            <a:ext cx="114300" cy="114300"/>
          </a:xfrm>
          <a:prstGeom prst="rect">
            <a:avLst/>
          </a:prstGeom>
          <a:solidFill>
            <a:srgbClr val="0F274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1219200" y="952500"/>
            <a:ext cx="413661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COMPARATIVA DE MODELOS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72108" y="952500"/>
            <a:ext cx="367029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SET HOLD-OUT · N=885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2500" y="1447800"/>
            <a:ext cx="16383000" cy="9525"/>
          </a:xfrm>
          <a:prstGeom prst="rect">
            <a:avLst/>
          </a:prstGeom>
          <a:solidFill>
            <a:srgbClr val="CDC6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952500" y="1952625"/>
            <a:ext cx="168744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CANDIDATOS · MISMA SPLIT · MISMA MÉTRICA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52500" y="2714625"/>
            <a:ext cx="1687449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96" dirty="0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Comparativa de modelos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952500" y="4419600"/>
            <a:ext cx="3447604" cy="19050"/>
          </a:xfrm>
          <a:prstGeom prst="rect">
            <a:avLst/>
          </a:prstGeom>
          <a:solidFill>
            <a:srgbClr val="11202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1143000" y="3981450"/>
            <a:ext cx="317003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kern="0" spc="132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4400104" y="4419600"/>
            <a:ext cx="1803946" cy="19050"/>
          </a:xfrm>
          <a:prstGeom prst="rect">
            <a:avLst/>
          </a:prstGeom>
          <a:solidFill>
            <a:srgbClr val="11202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514404" y="3981450"/>
            <a:ext cx="149914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kern="0" spc="132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· CV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204049" y="4419600"/>
            <a:ext cx="2176909" cy="19050"/>
          </a:xfrm>
          <a:prstGeom prst="rect">
            <a:avLst/>
          </a:prstGeom>
          <a:solidFill>
            <a:srgbClr val="11202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6318349" y="3981450"/>
            <a:ext cx="187210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kern="0" spc="132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· TEST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8380958" y="4419600"/>
            <a:ext cx="3482280" cy="19050"/>
          </a:xfrm>
          <a:prstGeom prst="rect">
            <a:avLst/>
          </a:prstGeom>
          <a:solidFill>
            <a:srgbClr val="11202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8466990" y="3981450"/>
            <a:ext cx="320574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kern="0" spc="132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· DROPOUT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1863239" y="4419600"/>
            <a:ext cx="2922836" cy="19050"/>
          </a:xfrm>
          <a:prstGeom prst="rect">
            <a:avLst/>
          </a:prstGeom>
          <a:solidFill>
            <a:srgbClr val="11202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11966054" y="3981450"/>
            <a:ext cx="262952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kern="0" spc="132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 (CV − TEST)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4786074" y="4419600"/>
            <a:ext cx="2549872" cy="19050"/>
          </a:xfrm>
          <a:prstGeom prst="rect">
            <a:avLst/>
          </a:prstGeom>
          <a:solidFill>
            <a:srgbClr val="11202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14976574" y="3981450"/>
            <a:ext cx="22453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kern="0" spc="132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OVERFITTING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952500" y="4438650"/>
            <a:ext cx="16383000" cy="781050"/>
          </a:xfrm>
          <a:prstGeom prst="rect">
            <a:avLst/>
          </a:prstGeom>
          <a:solidFill>
            <a:srgbClr val="4EA8DE">
              <a:alpha val="12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952500" y="5210175"/>
            <a:ext cx="3447604" cy="9525"/>
          </a:xfrm>
          <a:prstGeom prst="rect">
            <a:avLst/>
          </a:prstGeom>
          <a:solidFill>
            <a:srgbClr val="CDC6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952500" y="4438650"/>
            <a:ext cx="28575" cy="781050"/>
          </a:xfrm>
          <a:prstGeom prst="rect">
            <a:avLst/>
          </a:prstGeom>
          <a:solidFill>
            <a:srgbClr val="4EA8D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1143000" y="4648200"/>
            <a:ext cx="317003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RandomForest ✓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4400104" y="5210175"/>
            <a:ext cx="1803946" cy="9525"/>
          </a:xfrm>
          <a:prstGeom prst="rect">
            <a:avLst/>
          </a:prstGeom>
          <a:solidFill>
            <a:srgbClr val="CDC6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4514404" y="4648200"/>
            <a:ext cx="149914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0.6184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6204049" y="5210175"/>
            <a:ext cx="2176909" cy="9525"/>
          </a:xfrm>
          <a:prstGeom prst="rect">
            <a:avLst/>
          </a:prstGeom>
          <a:solidFill>
            <a:srgbClr val="CDC6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6318349" y="4648200"/>
            <a:ext cx="187210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0.5973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8380958" y="5210175"/>
            <a:ext cx="3482280" cy="9525"/>
          </a:xfrm>
          <a:prstGeom prst="rect">
            <a:avLst/>
          </a:prstGeom>
          <a:solidFill>
            <a:srgbClr val="CDC6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8466990" y="4648200"/>
            <a:ext cx="320574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4EA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0.6479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11863239" y="5210175"/>
            <a:ext cx="2922836" cy="9525"/>
          </a:xfrm>
          <a:prstGeom prst="rect">
            <a:avLst/>
          </a:prstGeom>
          <a:solidFill>
            <a:srgbClr val="CDC6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11966054" y="4648200"/>
            <a:ext cx="262952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0.068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14786074" y="5210175"/>
            <a:ext cx="2549872" cy="9525"/>
          </a:xfrm>
          <a:prstGeom prst="rect">
            <a:avLst/>
          </a:prstGeom>
          <a:solidFill>
            <a:srgbClr val="CDC6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3" name="Shape 31"/>
          <p:cNvSpPr/>
          <p:nvPr/>
        </p:nvSpPr>
        <p:spPr>
          <a:xfrm>
            <a:off x="14976574" y="4686300"/>
            <a:ext cx="1197025" cy="314325"/>
          </a:xfrm>
          <a:prstGeom prst="rect">
            <a:avLst/>
          </a:prstGeom>
          <a:ln w="9525">
            <a:solidFill>
              <a:srgbClr val="6E7D8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15100399" y="4733925"/>
            <a:ext cx="102557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90" dirty="0">
                <a:solidFill>
                  <a:srgbClr val="6E7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Moderado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952500" y="5972175"/>
            <a:ext cx="3447604" cy="9525"/>
          </a:xfrm>
          <a:prstGeom prst="rect">
            <a:avLst/>
          </a:prstGeom>
          <a:solidFill>
            <a:srgbClr val="CDC6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1143000" y="5429250"/>
            <a:ext cx="317003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endParaRPr lang="en-US" sz="2100" dirty="0"/>
          </a:p>
        </p:txBody>
      </p:sp>
      <p:sp>
        <p:nvSpPr>
          <p:cNvPr id="37" name="Shape 35"/>
          <p:cNvSpPr/>
          <p:nvPr/>
        </p:nvSpPr>
        <p:spPr>
          <a:xfrm>
            <a:off x="4400104" y="5972175"/>
            <a:ext cx="1803946" cy="9525"/>
          </a:xfrm>
          <a:prstGeom prst="rect">
            <a:avLst/>
          </a:prstGeom>
          <a:solidFill>
            <a:srgbClr val="CDC6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8" name="Text 36"/>
          <p:cNvSpPr/>
          <p:nvPr/>
        </p:nvSpPr>
        <p:spPr>
          <a:xfrm>
            <a:off x="4514404" y="5429250"/>
            <a:ext cx="149914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0.6359</a:t>
            </a:r>
            <a:endParaRPr lang="en-US" sz="2100" dirty="0"/>
          </a:p>
        </p:txBody>
      </p:sp>
      <p:sp>
        <p:nvSpPr>
          <p:cNvPr id="39" name="Shape 37"/>
          <p:cNvSpPr/>
          <p:nvPr/>
        </p:nvSpPr>
        <p:spPr>
          <a:xfrm>
            <a:off x="6204049" y="5972175"/>
            <a:ext cx="2176909" cy="9525"/>
          </a:xfrm>
          <a:prstGeom prst="rect">
            <a:avLst/>
          </a:prstGeom>
          <a:solidFill>
            <a:srgbClr val="CDC6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6318349" y="5429250"/>
            <a:ext cx="187210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0.6183</a:t>
            </a:r>
            <a:endParaRPr lang="en-US" sz="2100" dirty="0"/>
          </a:p>
        </p:txBody>
      </p:sp>
      <p:sp>
        <p:nvSpPr>
          <p:cNvPr id="41" name="Shape 39"/>
          <p:cNvSpPr/>
          <p:nvPr/>
        </p:nvSpPr>
        <p:spPr>
          <a:xfrm>
            <a:off x="8380958" y="5972175"/>
            <a:ext cx="3482280" cy="9525"/>
          </a:xfrm>
          <a:prstGeom prst="rect">
            <a:avLst/>
          </a:prstGeom>
          <a:solidFill>
            <a:srgbClr val="CDC6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2" name="Text 40"/>
          <p:cNvSpPr/>
          <p:nvPr/>
        </p:nvSpPr>
        <p:spPr>
          <a:xfrm>
            <a:off x="8466990" y="5429250"/>
            <a:ext cx="320574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0.5986</a:t>
            </a:r>
            <a:endParaRPr lang="en-US" sz="2100" dirty="0"/>
          </a:p>
        </p:txBody>
      </p:sp>
      <p:sp>
        <p:nvSpPr>
          <p:cNvPr id="43" name="Shape 41"/>
          <p:cNvSpPr/>
          <p:nvPr/>
        </p:nvSpPr>
        <p:spPr>
          <a:xfrm>
            <a:off x="11863239" y="5972175"/>
            <a:ext cx="2922836" cy="9525"/>
          </a:xfrm>
          <a:prstGeom prst="rect">
            <a:avLst/>
          </a:prstGeom>
          <a:solidFill>
            <a:srgbClr val="CDC6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4" name="Text 42"/>
          <p:cNvSpPr/>
          <p:nvPr/>
        </p:nvSpPr>
        <p:spPr>
          <a:xfrm>
            <a:off x="11966054" y="5429250"/>
            <a:ext cx="262952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0.248</a:t>
            </a:r>
            <a:endParaRPr lang="en-US" sz="2100" dirty="0"/>
          </a:p>
        </p:txBody>
      </p:sp>
      <p:sp>
        <p:nvSpPr>
          <p:cNvPr id="45" name="Shape 43"/>
          <p:cNvSpPr/>
          <p:nvPr/>
        </p:nvSpPr>
        <p:spPr>
          <a:xfrm>
            <a:off x="14786074" y="5972175"/>
            <a:ext cx="2549872" cy="9525"/>
          </a:xfrm>
          <a:prstGeom prst="rect">
            <a:avLst/>
          </a:prstGeom>
          <a:solidFill>
            <a:srgbClr val="CDC6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6" name="Shape 44"/>
          <p:cNvSpPr/>
          <p:nvPr/>
        </p:nvSpPr>
        <p:spPr>
          <a:xfrm>
            <a:off x="14976574" y="5457825"/>
            <a:ext cx="621655" cy="314325"/>
          </a:xfrm>
          <a:prstGeom prst="rect">
            <a:avLst/>
          </a:prstGeom>
          <a:ln w="9525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7" name="Text 45"/>
          <p:cNvSpPr/>
          <p:nvPr/>
        </p:nvSpPr>
        <p:spPr>
          <a:xfrm>
            <a:off x="15100399" y="5505450"/>
            <a:ext cx="45020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9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952500" y="6734175"/>
            <a:ext cx="3447604" cy="9525"/>
          </a:xfrm>
          <a:prstGeom prst="rect">
            <a:avLst/>
          </a:prstGeom>
          <a:solidFill>
            <a:srgbClr val="CDC6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9" name="Text 47"/>
          <p:cNvSpPr/>
          <p:nvPr/>
        </p:nvSpPr>
        <p:spPr>
          <a:xfrm>
            <a:off x="1143000" y="6191250"/>
            <a:ext cx="317003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LogisticRegression</a:t>
            </a:r>
            <a:endParaRPr lang="en-US" sz="2100" dirty="0"/>
          </a:p>
        </p:txBody>
      </p:sp>
      <p:sp>
        <p:nvSpPr>
          <p:cNvPr id="50" name="Shape 48"/>
          <p:cNvSpPr/>
          <p:nvPr/>
        </p:nvSpPr>
        <p:spPr>
          <a:xfrm>
            <a:off x="4400104" y="6734175"/>
            <a:ext cx="1803946" cy="9525"/>
          </a:xfrm>
          <a:prstGeom prst="rect">
            <a:avLst/>
          </a:prstGeom>
          <a:solidFill>
            <a:srgbClr val="CDC6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1" name="Text 49"/>
          <p:cNvSpPr/>
          <p:nvPr/>
        </p:nvSpPr>
        <p:spPr>
          <a:xfrm>
            <a:off x="4514404" y="6191250"/>
            <a:ext cx="149914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0.6216</a:t>
            </a:r>
            <a:endParaRPr lang="en-US" sz="2100" dirty="0"/>
          </a:p>
        </p:txBody>
      </p:sp>
      <p:sp>
        <p:nvSpPr>
          <p:cNvPr id="52" name="Shape 50"/>
          <p:cNvSpPr/>
          <p:nvPr/>
        </p:nvSpPr>
        <p:spPr>
          <a:xfrm>
            <a:off x="6204049" y="6734175"/>
            <a:ext cx="2176909" cy="9525"/>
          </a:xfrm>
          <a:prstGeom prst="rect">
            <a:avLst/>
          </a:prstGeom>
          <a:solidFill>
            <a:srgbClr val="CDC6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3" name="Text 51"/>
          <p:cNvSpPr/>
          <p:nvPr/>
        </p:nvSpPr>
        <p:spPr>
          <a:xfrm>
            <a:off x="6318349" y="6191250"/>
            <a:ext cx="187210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0.6026</a:t>
            </a:r>
            <a:endParaRPr lang="en-US" sz="2100" dirty="0"/>
          </a:p>
        </p:txBody>
      </p:sp>
      <p:sp>
        <p:nvSpPr>
          <p:cNvPr id="54" name="Shape 52"/>
          <p:cNvSpPr/>
          <p:nvPr/>
        </p:nvSpPr>
        <p:spPr>
          <a:xfrm>
            <a:off x="8380958" y="6734175"/>
            <a:ext cx="3482280" cy="9525"/>
          </a:xfrm>
          <a:prstGeom prst="rect">
            <a:avLst/>
          </a:prstGeom>
          <a:solidFill>
            <a:srgbClr val="CDC6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5" name="Text 53"/>
          <p:cNvSpPr/>
          <p:nvPr/>
        </p:nvSpPr>
        <p:spPr>
          <a:xfrm>
            <a:off x="8466990" y="6191250"/>
            <a:ext cx="320574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0.5915</a:t>
            </a:r>
            <a:endParaRPr lang="en-US" sz="2100" dirty="0"/>
          </a:p>
        </p:txBody>
      </p:sp>
      <p:sp>
        <p:nvSpPr>
          <p:cNvPr id="56" name="Shape 54"/>
          <p:cNvSpPr/>
          <p:nvPr/>
        </p:nvSpPr>
        <p:spPr>
          <a:xfrm>
            <a:off x="11863239" y="6734175"/>
            <a:ext cx="2922836" cy="9525"/>
          </a:xfrm>
          <a:prstGeom prst="rect">
            <a:avLst/>
          </a:prstGeom>
          <a:solidFill>
            <a:srgbClr val="CDC6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7" name="Text 55"/>
          <p:cNvSpPr/>
          <p:nvPr/>
        </p:nvSpPr>
        <p:spPr>
          <a:xfrm>
            <a:off x="11966054" y="6191250"/>
            <a:ext cx="262952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0.072</a:t>
            </a:r>
            <a:endParaRPr lang="en-US" sz="2100" dirty="0"/>
          </a:p>
        </p:txBody>
      </p:sp>
      <p:sp>
        <p:nvSpPr>
          <p:cNvPr id="58" name="Shape 56"/>
          <p:cNvSpPr/>
          <p:nvPr/>
        </p:nvSpPr>
        <p:spPr>
          <a:xfrm>
            <a:off x="14786074" y="6734175"/>
            <a:ext cx="2549872" cy="9525"/>
          </a:xfrm>
          <a:prstGeom prst="rect">
            <a:avLst/>
          </a:prstGeom>
          <a:solidFill>
            <a:srgbClr val="CDC6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9" name="Shape 57"/>
          <p:cNvSpPr/>
          <p:nvPr/>
        </p:nvSpPr>
        <p:spPr>
          <a:xfrm>
            <a:off x="14976574" y="6219825"/>
            <a:ext cx="1197025" cy="314325"/>
          </a:xfrm>
          <a:prstGeom prst="rect">
            <a:avLst/>
          </a:prstGeom>
          <a:ln w="9525">
            <a:solidFill>
              <a:srgbClr val="6E7D8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0" name="Text 58"/>
          <p:cNvSpPr/>
          <p:nvPr/>
        </p:nvSpPr>
        <p:spPr>
          <a:xfrm>
            <a:off x="15100399" y="6267450"/>
            <a:ext cx="102557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90" dirty="0">
                <a:solidFill>
                  <a:srgbClr val="6E7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Moderado</a:t>
            </a:r>
            <a:endParaRPr lang="en-US" sz="1500" dirty="0"/>
          </a:p>
        </p:txBody>
      </p:sp>
      <p:sp>
        <p:nvSpPr>
          <p:cNvPr id="61" name="Shape 59"/>
          <p:cNvSpPr/>
          <p:nvPr/>
        </p:nvSpPr>
        <p:spPr>
          <a:xfrm>
            <a:off x="952500" y="7496175"/>
            <a:ext cx="3447604" cy="9525"/>
          </a:xfrm>
          <a:prstGeom prst="rect">
            <a:avLst/>
          </a:prstGeom>
          <a:solidFill>
            <a:srgbClr val="CDC6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2" name="Text 60"/>
          <p:cNvSpPr/>
          <p:nvPr/>
        </p:nvSpPr>
        <p:spPr>
          <a:xfrm>
            <a:off x="1143000" y="6953250"/>
            <a:ext cx="317003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GradientBoosting</a:t>
            </a:r>
            <a:endParaRPr lang="en-US" sz="2100" dirty="0"/>
          </a:p>
        </p:txBody>
      </p:sp>
      <p:sp>
        <p:nvSpPr>
          <p:cNvPr id="63" name="Shape 61"/>
          <p:cNvSpPr/>
          <p:nvPr/>
        </p:nvSpPr>
        <p:spPr>
          <a:xfrm>
            <a:off x="4400104" y="7496175"/>
            <a:ext cx="1803946" cy="9525"/>
          </a:xfrm>
          <a:prstGeom prst="rect">
            <a:avLst/>
          </a:prstGeom>
          <a:solidFill>
            <a:srgbClr val="CDC6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4" name="Text 62"/>
          <p:cNvSpPr/>
          <p:nvPr/>
        </p:nvSpPr>
        <p:spPr>
          <a:xfrm>
            <a:off x="4514404" y="6953250"/>
            <a:ext cx="149914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0.6434</a:t>
            </a:r>
            <a:endParaRPr lang="en-US" sz="2100" dirty="0"/>
          </a:p>
        </p:txBody>
      </p:sp>
      <p:sp>
        <p:nvSpPr>
          <p:cNvPr id="65" name="Shape 63"/>
          <p:cNvSpPr/>
          <p:nvPr/>
        </p:nvSpPr>
        <p:spPr>
          <a:xfrm>
            <a:off x="6204049" y="7496175"/>
            <a:ext cx="2176909" cy="9525"/>
          </a:xfrm>
          <a:prstGeom prst="rect">
            <a:avLst/>
          </a:prstGeom>
          <a:solidFill>
            <a:srgbClr val="CDC6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6" name="Text 64"/>
          <p:cNvSpPr/>
          <p:nvPr/>
        </p:nvSpPr>
        <p:spPr>
          <a:xfrm>
            <a:off x="6318349" y="6953250"/>
            <a:ext cx="187210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0.6012</a:t>
            </a:r>
            <a:endParaRPr lang="en-US" sz="2100" dirty="0"/>
          </a:p>
        </p:txBody>
      </p:sp>
      <p:sp>
        <p:nvSpPr>
          <p:cNvPr id="67" name="Shape 65"/>
          <p:cNvSpPr/>
          <p:nvPr/>
        </p:nvSpPr>
        <p:spPr>
          <a:xfrm>
            <a:off x="8380958" y="7496175"/>
            <a:ext cx="3482280" cy="9525"/>
          </a:xfrm>
          <a:prstGeom prst="rect">
            <a:avLst/>
          </a:prstGeom>
          <a:solidFill>
            <a:srgbClr val="CDC6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8" name="Text 66"/>
          <p:cNvSpPr/>
          <p:nvPr/>
        </p:nvSpPr>
        <p:spPr>
          <a:xfrm>
            <a:off x="8466990" y="6953250"/>
            <a:ext cx="320574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0.5915</a:t>
            </a:r>
            <a:endParaRPr lang="en-US" sz="2100" dirty="0"/>
          </a:p>
        </p:txBody>
      </p:sp>
      <p:sp>
        <p:nvSpPr>
          <p:cNvPr id="69" name="Shape 67"/>
          <p:cNvSpPr/>
          <p:nvPr/>
        </p:nvSpPr>
        <p:spPr>
          <a:xfrm>
            <a:off x="11863239" y="7496175"/>
            <a:ext cx="2922836" cy="9525"/>
          </a:xfrm>
          <a:prstGeom prst="rect">
            <a:avLst/>
          </a:prstGeom>
          <a:solidFill>
            <a:srgbClr val="CDC6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0" name="Text 68"/>
          <p:cNvSpPr/>
          <p:nvPr/>
        </p:nvSpPr>
        <p:spPr>
          <a:xfrm>
            <a:off x="11966054" y="6953250"/>
            <a:ext cx="262952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0.2665</a:t>
            </a:r>
            <a:endParaRPr lang="en-US" sz="2100" dirty="0"/>
          </a:p>
        </p:txBody>
      </p:sp>
      <p:sp>
        <p:nvSpPr>
          <p:cNvPr id="71" name="Shape 69"/>
          <p:cNvSpPr/>
          <p:nvPr/>
        </p:nvSpPr>
        <p:spPr>
          <a:xfrm>
            <a:off x="14786074" y="7496175"/>
            <a:ext cx="2549872" cy="9525"/>
          </a:xfrm>
          <a:prstGeom prst="rect">
            <a:avLst/>
          </a:prstGeom>
          <a:solidFill>
            <a:srgbClr val="CDC6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2" name="Shape 70"/>
          <p:cNvSpPr/>
          <p:nvPr/>
        </p:nvSpPr>
        <p:spPr>
          <a:xfrm>
            <a:off x="14976574" y="6981825"/>
            <a:ext cx="621655" cy="314325"/>
          </a:xfrm>
          <a:prstGeom prst="rect">
            <a:avLst/>
          </a:prstGeom>
          <a:ln w="9525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3" name="Text 71"/>
          <p:cNvSpPr/>
          <p:nvPr/>
        </p:nvSpPr>
        <p:spPr>
          <a:xfrm>
            <a:off x="15100399" y="7029450"/>
            <a:ext cx="45020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9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</a:t>
            </a:r>
            <a:endParaRPr lang="en-US" sz="1500" dirty="0"/>
          </a:p>
        </p:txBody>
      </p:sp>
      <p:sp>
        <p:nvSpPr>
          <p:cNvPr id="74" name="Shape 72"/>
          <p:cNvSpPr/>
          <p:nvPr/>
        </p:nvSpPr>
        <p:spPr>
          <a:xfrm>
            <a:off x="952500" y="8258175"/>
            <a:ext cx="3447604" cy="9525"/>
          </a:xfrm>
          <a:prstGeom prst="rect">
            <a:avLst/>
          </a:prstGeom>
          <a:solidFill>
            <a:srgbClr val="CDC6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5" name="Text 73"/>
          <p:cNvSpPr/>
          <p:nvPr/>
        </p:nvSpPr>
        <p:spPr>
          <a:xfrm>
            <a:off x="1143000" y="7715250"/>
            <a:ext cx="317003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ExtraTrees</a:t>
            </a:r>
            <a:endParaRPr lang="en-US" sz="2100" dirty="0"/>
          </a:p>
        </p:txBody>
      </p:sp>
      <p:sp>
        <p:nvSpPr>
          <p:cNvPr id="76" name="Shape 74"/>
          <p:cNvSpPr/>
          <p:nvPr/>
        </p:nvSpPr>
        <p:spPr>
          <a:xfrm>
            <a:off x="4400104" y="8258175"/>
            <a:ext cx="1803946" cy="9525"/>
          </a:xfrm>
          <a:prstGeom prst="rect">
            <a:avLst/>
          </a:prstGeom>
          <a:solidFill>
            <a:srgbClr val="CDC6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7" name="Text 75"/>
          <p:cNvSpPr/>
          <p:nvPr/>
        </p:nvSpPr>
        <p:spPr>
          <a:xfrm>
            <a:off x="4514404" y="7715250"/>
            <a:ext cx="149914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0.6160</a:t>
            </a:r>
            <a:endParaRPr lang="en-US" sz="2100" dirty="0"/>
          </a:p>
        </p:txBody>
      </p:sp>
      <p:sp>
        <p:nvSpPr>
          <p:cNvPr id="78" name="Shape 76"/>
          <p:cNvSpPr/>
          <p:nvPr/>
        </p:nvSpPr>
        <p:spPr>
          <a:xfrm>
            <a:off x="6204049" y="8258175"/>
            <a:ext cx="2176909" cy="9525"/>
          </a:xfrm>
          <a:prstGeom prst="rect">
            <a:avLst/>
          </a:prstGeom>
          <a:solidFill>
            <a:srgbClr val="CDC6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9" name="Text 77"/>
          <p:cNvSpPr/>
          <p:nvPr/>
        </p:nvSpPr>
        <p:spPr>
          <a:xfrm>
            <a:off x="6318349" y="7715250"/>
            <a:ext cx="187210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0.5886</a:t>
            </a:r>
            <a:endParaRPr lang="en-US" sz="2100" dirty="0"/>
          </a:p>
        </p:txBody>
      </p:sp>
      <p:sp>
        <p:nvSpPr>
          <p:cNvPr id="80" name="Shape 78"/>
          <p:cNvSpPr/>
          <p:nvPr/>
        </p:nvSpPr>
        <p:spPr>
          <a:xfrm>
            <a:off x="8380958" y="8258175"/>
            <a:ext cx="3482280" cy="9525"/>
          </a:xfrm>
          <a:prstGeom prst="rect">
            <a:avLst/>
          </a:prstGeom>
          <a:solidFill>
            <a:srgbClr val="CDC6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1" name="Text 79"/>
          <p:cNvSpPr/>
          <p:nvPr/>
        </p:nvSpPr>
        <p:spPr>
          <a:xfrm>
            <a:off x="8466990" y="7715250"/>
            <a:ext cx="320574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0.6197</a:t>
            </a:r>
            <a:endParaRPr lang="en-US" sz="2100" dirty="0"/>
          </a:p>
        </p:txBody>
      </p:sp>
      <p:sp>
        <p:nvSpPr>
          <p:cNvPr id="82" name="Shape 80"/>
          <p:cNvSpPr/>
          <p:nvPr/>
        </p:nvSpPr>
        <p:spPr>
          <a:xfrm>
            <a:off x="11863239" y="8258175"/>
            <a:ext cx="2922836" cy="9525"/>
          </a:xfrm>
          <a:prstGeom prst="rect">
            <a:avLst/>
          </a:prstGeom>
          <a:solidFill>
            <a:srgbClr val="CDC6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3" name="Text 81"/>
          <p:cNvSpPr/>
          <p:nvPr/>
        </p:nvSpPr>
        <p:spPr>
          <a:xfrm>
            <a:off x="11966054" y="7715250"/>
            <a:ext cx="262952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0.080</a:t>
            </a:r>
            <a:endParaRPr lang="en-US" sz="2100" dirty="0"/>
          </a:p>
        </p:txBody>
      </p:sp>
      <p:sp>
        <p:nvSpPr>
          <p:cNvPr id="84" name="Shape 82"/>
          <p:cNvSpPr/>
          <p:nvPr/>
        </p:nvSpPr>
        <p:spPr>
          <a:xfrm>
            <a:off x="14786074" y="8258175"/>
            <a:ext cx="2549872" cy="9525"/>
          </a:xfrm>
          <a:prstGeom prst="rect">
            <a:avLst/>
          </a:prstGeom>
          <a:solidFill>
            <a:srgbClr val="CDC6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5" name="Shape 83"/>
          <p:cNvSpPr/>
          <p:nvPr/>
        </p:nvSpPr>
        <p:spPr>
          <a:xfrm>
            <a:off x="14976574" y="7743825"/>
            <a:ext cx="1197025" cy="314325"/>
          </a:xfrm>
          <a:prstGeom prst="rect">
            <a:avLst/>
          </a:prstGeom>
          <a:ln w="9525">
            <a:solidFill>
              <a:srgbClr val="6E7D8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6" name="Text 84"/>
          <p:cNvSpPr/>
          <p:nvPr/>
        </p:nvSpPr>
        <p:spPr>
          <a:xfrm>
            <a:off x="15100399" y="7791450"/>
            <a:ext cx="102557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90" dirty="0">
                <a:solidFill>
                  <a:srgbClr val="6E7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Moderado</a:t>
            </a:r>
            <a:endParaRPr lang="en-US" sz="1500" dirty="0"/>
          </a:p>
        </p:txBody>
      </p:sp>
      <p:sp>
        <p:nvSpPr>
          <p:cNvPr id="87" name="Text 85"/>
          <p:cNvSpPr/>
          <p:nvPr/>
        </p:nvSpPr>
        <p:spPr>
          <a:xfrm>
            <a:off x="952500" y="8582025"/>
            <a:ext cx="12301607" cy="760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 · </a:t>
            </a:r>
            <a:r>
              <a:rPr lang="en-US" sz="1800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gana en F1 absoluto pero su gap CV–Test (0.248 ) revela memorización. RandomForest sacrifica ~2 pts de F1 a cambio de generalización estable y el mejor Recall</a:t>
            </a:r>
            <a:r>
              <a:rPr lang="en-US" sz="1500" baseline="-40000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Dropout</a:t>
            </a:r>
            <a:r>
              <a:rPr lang="en-US" sz="1800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88" name="Text 86"/>
          <p:cNvSpPr/>
          <p:nvPr/>
        </p:nvSpPr>
        <p:spPr>
          <a:xfrm>
            <a:off x="13200608" y="8809583"/>
            <a:ext cx="425893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90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 DE NEGOCIO: RECALL</a:t>
            </a:r>
            <a:r>
              <a:rPr lang="en-US" sz="1250" kern="0" spc="90" baseline="-40000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DROPOUT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F274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952500" y="1033462"/>
            <a:ext cx="114300" cy="114300"/>
          </a:xfrm>
          <a:prstGeom prst="rect">
            <a:avLst/>
          </a:prstGeom>
          <a:solidFill>
            <a:srgbClr val="4EA8D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1219200" y="957263"/>
            <a:ext cx="43665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B8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DECISIÓN DEL MODELO FINAL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488716" y="952500"/>
            <a:ext cx="293218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B8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COSTE FN ≫ COSTE FP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52500" y="1457325"/>
            <a:ext cx="16383000" cy="9525"/>
          </a:xfrm>
          <a:prstGeom prst="rect">
            <a:avLst/>
          </a:prstGeom>
          <a:solidFill>
            <a:srgbClr val="2A425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952500" y="1962150"/>
            <a:ext cx="168744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7E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GENERALIZACIÓN + MÉTRICA DE NEGOCIO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52500" y="2724150"/>
            <a:ext cx="1687449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96" dirty="0">
                <a:solidFill>
                  <a:srgbClr val="F3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Decisión del modelo final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952500" y="3895725"/>
            <a:ext cx="748882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kern="0" spc="165" dirty="0">
                <a:solidFill>
                  <a:srgbClr val="4EA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SELECCIONADO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52500" y="4295775"/>
            <a:ext cx="7488821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200" b="1" kern="0" spc="-216" dirty="0">
                <a:solidFill>
                  <a:srgbClr val="F3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RandomForest</a:t>
            </a:r>
            <a:endParaRPr lang="en-US" sz="7200" dirty="0"/>
          </a:p>
        </p:txBody>
      </p:sp>
      <p:sp>
        <p:nvSpPr>
          <p:cNvPr id="11" name="Shape 9"/>
          <p:cNvSpPr/>
          <p:nvPr/>
        </p:nvSpPr>
        <p:spPr>
          <a:xfrm>
            <a:off x="952500" y="5591175"/>
            <a:ext cx="3520976" cy="1990725"/>
          </a:xfrm>
          <a:prstGeom prst="rect">
            <a:avLst/>
          </a:prstGeom>
          <a:ln w="9525">
            <a:solidFill>
              <a:srgbClr val="2A42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1228725" y="5829300"/>
            <a:ext cx="305758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08" dirty="0">
                <a:solidFill>
                  <a:srgbClr val="9EB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DROPOUT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228725" y="6105525"/>
            <a:ext cx="3057582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600" kern="0" spc="-198" dirty="0">
                <a:solidFill>
                  <a:srgbClr val="4EA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0.6479</a:t>
            </a:r>
            <a:endParaRPr lang="en-US" sz="6600" dirty="0"/>
          </a:p>
        </p:txBody>
      </p:sp>
      <p:sp>
        <p:nvSpPr>
          <p:cNvPr id="14" name="Text 12"/>
          <p:cNvSpPr/>
          <p:nvPr/>
        </p:nvSpPr>
        <p:spPr>
          <a:xfrm>
            <a:off x="1228725" y="7000875"/>
            <a:ext cx="305758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9EB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 pts vs runner-up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702076" y="5591175"/>
            <a:ext cx="3521125" cy="1990725"/>
          </a:xfrm>
          <a:prstGeom prst="rect">
            <a:avLst/>
          </a:prstGeom>
          <a:ln w="9525">
            <a:solidFill>
              <a:srgbClr val="2A42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4978301" y="5829300"/>
            <a:ext cx="305773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08" dirty="0">
                <a:solidFill>
                  <a:srgbClr val="9EB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CV − TEST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978301" y="6029325"/>
            <a:ext cx="3057735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600" kern="0" spc="-198" dirty="0">
                <a:solidFill>
                  <a:srgbClr val="6FA8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0.068</a:t>
            </a:r>
            <a:endParaRPr lang="en-US" sz="6600" dirty="0"/>
          </a:p>
        </p:txBody>
      </p:sp>
      <p:sp>
        <p:nvSpPr>
          <p:cNvPr id="18" name="Text 16"/>
          <p:cNvSpPr/>
          <p:nvPr/>
        </p:nvSpPr>
        <p:spPr>
          <a:xfrm>
            <a:off x="4978301" y="6924675"/>
            <a:ext cx="305773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9EB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XGBoost · 0.248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756600" y="3895725"/>
            <a:ext cx="9525" cy="5629275"/>
          </a:xfrm>
          <a:prstGeom prst="rect">
            <a:avLst/>
          </a:prstGeom>
          <a:solidFill>
            <a:srgbClr val="2A425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9299525" y="3895725"/>
            <a:ext cx="827705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kern="0" spc="165" dirty="0">
                <a:solidFill>
                  <a:srgbClr val="4EA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RECALL &gt; F1-WEIGHTED AQUÍ?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9299525" y="4410075"/>
            <a:ext cx="8035975" cy="1057275"/>
          </a:xfrm>
          <a:prstGeom prst="rect">
            <a:avLst/>
          </a:prstGeom>
          <a:solidFill>
            <a:srgbClr val="D97757">
              <a:alpha val="18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9299525" y="4410075"/>
            <a:ext cx="28575" cy="1057275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9594800" y="4700588"/>
            <a:ext cx="6477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FN</a:t>
            </a:r>
            <a:endParaRPr lang="en-US" sz="2850" dirty="0"/>
          </a:p>
        </p:txBody>
      </p:sp>
      <p:sp>
        <p:nvSpPr>
          <p:cNvPr id="24" name="Text 22"/>
          <p:cNvSpPr/>
          <p:nvPr/>
        </p:nvSpPr>
        <p:spPr>
          <a:xfrm>
            <a:off x="10356800" y="4619625"/>
            <a:ext cx="596861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3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detectar un abandono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0356800" y="4914900"/>
            <a:ext cx="596861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9EB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Estudiante en riesgo no recibe intervención · pérdida real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299525" y="5657850"/>
            <a:ext cx="8035975" cy="1057275"/>
          </a:xfrm>
          <a:prstGeom prst="rect">
            <a:avLst/>
          </a:prstGeom>
          <a:solidFill>
            <a:srgbClr val="6FA886">
              <a:alpha val="14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9299525" y="5657850"/>
            <a:ext cx="28575" cy="1057275"/>
          </a:xfrm>
          <a:prstGeom prst="rect">
            <a:avLst/>
          </a:prstGeom>
          <a:solidFill>
            <a:srgbClr val="6FA88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9594800" y="5948363"/>
            <a:ext cx="6477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6FA8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</a:t>
            </a:r>
            <a:endParaRPr lang="en-US" sz="2850" dirty="0"/>
          </a:p>
        </p:txBody>
      </p:sp>
      <p:sp>
        <p:nvSpPr>
          <p:cNvPr id="29" name="Text 27"/>
          <p:cNvSpPr/>
          <p:nvPr/>
        </p:nvSpPr>
        <p:spPr>
          <a:xfrm>
            <a:off x="10356800" y="5867400"/>
            <a:ext cx="616896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3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Falsa alarma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10356800" y="6162675"/>
            <a:ext cx="616896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9EB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Tutoría preventiva a quien iba a graduarse · coste marginal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299525" y="6981825"/>
            <a:ext cx="8035975" cy="1295400"/>
          </a:xfrm>
          <a:prstGeom prst="rect">
            <a:avLst/>
          </a:prstGeom>
          <a:solidFill>
            <a:srgbClr val="0A1C30"/>
          </a:solidFill>
          <a:ln w="9525">
            <a:solidFill>
              <a:srgbClr val="2A42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9575750" y="7219950"/>
            <a:ext cx="995511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4EA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FN ≫ FP</a:t>
            </a:r>
            <a:endParaRPr lang="en-US" sz="2700" dirty="0"/>
          </a:p>
        </p:txBody>
      </p:sp>
      <p:sp>
        <p:nvSpPr>
          <p:cNvPr id="33" name="Text 31"/>
          <p:cNvSpPr/>
          <p:nvPr/>
        </p:nvSpPr>
        <p:spPr>
          <a:xfrm>
            <a:off x="10723662" y="7268468"/>
            <a:ext cx="6525682" cy="760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D8E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r>
              <a:rPr lang="en-US" sz="1800" dirty="0" err="1">
                <a:solidFill>
                  <a:srgbClr val="D8E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priorizamos</a:t>
            </a:r>
            <a:r>
              <a:rPr lang="en-US" sz="1800" dirty="0">
                <a:solidFill>
                  <a:srgbClr val="D8E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Recall Dropout</a:t>
            </a:r>
            <a:r>
              <a:rPr lang="en-US" sz="1500" baseline="-40000" dirty="0">
                <a:solidFill>
                  <a:srgbClr val="D8E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dirty="0">
                <a:solidFill>
                  <a:srgbClr val="D8E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 decisión final, con F1-weighted </a:t>
            </a:r>
            <a:r>
              <a:rPr lang="en-US" sz="1800" dirty="0" err="1">
                <a:solidFill>
                  <a:srgbClr val="D8E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</a:t>
            </a:r>
            <a:r>
              <a:rPr lang="en-US" sz="1800" dirty="0">
                <a:solidFill>
                  <a:srgbClr val="D8E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“gate” de </a:t>
            </a:r>
            <a:r>
              <a:rPr lang="en-US" sz="1800" dirty="0" err="1">
                <a:solidFill>
                  <a:srgbClr val="D8E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selección</a:t>
            </a:r>
            <a:r>
              <a:rPr lang="en-US" sz="1800" dirty="0">
                <a:solidFill>
                  <a:srgbClr val="D8E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028700"/>
            <a:ext cx="114300" cy="114300"/>
          </a:xfrm>
          <a:prstGeom prst="rect">
            <a:avLst/>
          </a:prstGeom>
          <a:solidFill>
            <a:srgbClr val="0F274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1219200" y="952500"/>
            <a:ext cx="403973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MODELO NO SUPERVISADO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059174" y="952500"/>
            <a:ext cx="235252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PCA(3) → KMEANS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500" y="1943100"/>
            <a:ext cx="168744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PERFILES DE RIESGO ACCIONABLES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52500" y="2705100"/>
            <a:ext cx="1687449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96" dirty="0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KMeans · 3 clusters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952500" y="3876675"/>
            <a:ext cx="3027759" cy="2200275"/>
          </a:xfrm>
          <a:prstGeom prst="rect">
            <a:avLst/>
          </a:prstGeom>
          <a:solidFill>
            <a:srgbClr val="FFFFFF"/>
          </a:solidFill>
          <a:ln w="9525">
            <a:solidFill>
              <a:srgbClr val="CDC6B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1266825" y="4152900"/>
            <a:ext cx="247530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4EA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1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266825" y="4448175"/>
            <a:ext cx="247530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PCA(n=3)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266825" y="4876800"/>
            <a:ext cx="2475309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33.2% varianza explicada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4208859" y="3876675"/>
            <a:ext cx="3027759" cy="2200275"/>
          </a:xfrm>
          <a:prstGeom prst="rect">
            <a:avLst/>
          </a:prstGeom>
          <a:solidFill>
            <a:srgbClr val="FFFFFF"/>
          </a:solidFill>
          <a:ln w="9525">
            <a:solidFill>
              <a:srgbClr val="CDC6B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4523184" y="4152900"/>
            <a:ext cx="247530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4EA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2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23184" y="4448175"/>
            <a:ext cx="2475309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Elbow + Silhouette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4523184" y="5210175"/>
            <a:ext cx="2475309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= 3 óptimo silhouette = 0.378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7465219" y="3876675"/>
            <a:ext cx="3027759" cy="2200275"/>
          </a:xfrm>
          <a:prstGeom prst="rect">
            <a:avLst/>
          </a:prstGeom>
          <a:solidFill>
            <a:srgbClr val="FFFFFF"/>
          </a:solidFill>
          <a:ln w="9525">
            <a:solidFill>
              <a:srgbClr val="CDC6B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7779544" y="4152900"/>
            <a:ext cx="247530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4EA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3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779544" y="4448175"/>
            <a:ext cx="247530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Perfilado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7779544" y="4876800"/>
            <a:ext cx="2475309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Cruzamos clusters con dropout real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952500" y="6457950"/>
            <a:ext cx="9540329" cy="1114425"/>
          </a:xfrm>
          <a:prstGeom prst="rect">
            <a:avLst/>
          </a:prstGeom>
          <a:solidFill>
            <a:srgbClr val="FFFFFF"/>
          </a:solidFill>
          <a:ln w="9525">
            <a:solidFill>
              <a:srgbClr val="CDC6B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962025" y="6467475"/>
            <a:ext cx="76200" cy="1095375"/>
          </a:xfrm>
          <a:prstGeom prst="rect">
            <a:avLst/>
          </a:prstGeom>
          <a:solidFill>
            <a:srgbClr val="6FA88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1304925" y="6677025"/>
            <a:ext cx="917903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6FA8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0 · perfil bajo riesgo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304925" y="7010400"/>
            <a:ext cx="917903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deuda, beca activa, primera </a:t>
            </a:r>
            <a:r>
              <a:rPr lang="en-US" sz="1800" dirty="0" err="1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elección</a:t>
            </a:r>
            <a:r>
              <a:rPr lang="en-US" sz="1800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mayoría Graduate.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52500" y="7743825"/>
            <a:ext cx="9540329" cy="1114425"/>
          </a:xfrm>
          <a:prstGeom prst="rect">
            <a:avLst/>
          </a:prstGeom>
          <a:solidFill>
            <a:srgbClr val="FFFFFF"/>
          </a:solidFill>
          <a:ln w="9525">
            <a:solidFill>
              <a:srgbClr val="CDC6B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Shape 22"/>
          <p:cNvSpPr/>
          <p:nvPr/>
        </p:nvSpPr>
        <p:spPr>
          <a:xfrm>
            <a:off x="962025" y="7753350"/>
            <a:ext cx="76200" cy="1095375"/>
          </a:xfrm>
          <a:prstGeom prst="rect">
            <a:avLst/>
          </a:prstGeom>
          <a:solidFill>
            <a:srgbClr val="E8B04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1304925" y="7962900"/>
            <a:ext cx="917903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B385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1 · perfil intermedio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304925" y="8296275"/>
            <a:ext cx="917903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Mayor edad de matrícula, situación financiera estable, mezcla Enrolled/Graduate.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52500" y="9029700"/>
            <a:ext cx="9540329" cy="1133475"/>
          </a:xfrm>
          <a:prstGeom prst="rect">
            <a:avLst/>
          </a:prstGeom>
          <a:solidFill>
            <a:srgbClr val="D97757">
              <a:alpha val="6000"/>
            </a:srgbClr>
          </a:solidFill>
          <a:ln w="1905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Shape 26"/>
          <p:cNvSpPr/>
          <p:nvPr/>
        </p:nvSpPr>
        <p:spPr>
          <a:xfrm>
            <a:off x="971550" y="9048750"/>
            <a:ext cx="76200" cy="1095375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1314450" y="9258300"/>
            <a:ext cx="915940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2 · perfil alto riesgo ⚑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314450" y="9591675"/>
            <a:ext cx="915940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 dropout · financial_risk = 1.27 · sin beca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0873829" y="3876675"/>
            <a:ext cx="9525" cy="6286500"/>
          </a:xfrm>
          <a:prstGeom prst="rect">
            <a:avLst/>
          </a:prstGeom>
          <a:solidFill>
            <a:srgbClr val="CDC6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11264354" y="3876675"/>
            <a:ext cx="625328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600" kern="0" spc="-198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600" dirty="0"/>
          </a:p>
        </p:txBody>
      </p:sp>
      <p:sp>
        <p:nvSpPr>
          <p:cNvPr id="33" name="Text 31"/>
          <p:cNvSpPr/>
          <p:nvPr/>
        </p:nvSpPr>
        <p:spPr>
          <a:xfrm>
            <a:off x="11264354" y="4867275"/>
            <a:ext cx="625328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CLUSTERS · K ÓPTIMO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1264354" y="5476875"/>
            <a:ext cx="625328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600" kern="0" spc="-198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0.378</a:t>
            </a:r>
            <a:endParaRPr lang="en-US" sz="6600" dirty="0"/>
          </a:p>
        </p:txBody>
      </p:sp>
      <p:sp>
        <p:nvSpPr>
          <p:cNvPr id="35" name="Text 33"/>
          <p:cNvSpPr/>
          <p:nvPr/>
        </p:nvSpPr>
        <p:spPr>
          <a:xfrm>
            <a:off x="11264354" y="6467475"/>
            <a:ext cx="625328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SILHOUETTE SCORE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1264354" y="7077075"/>
            <a:ext cx="625328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600" kern="0" spc="-198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6600" dirty="0"/>
          </a:p>
        </p:txBody>
      </p:sp>
      <p:sp>
        <p:nvSpPr>
          <p:cNvPr id="37" name="Text 35"/>
          <p:cNvSpPr/>
          <p:nvPr/>
        </p:nvSpPr>
        <p:spPr>
          <a:xfrm>
            <a:off x="11264354" y="8067675"/>
            <a:ext cx="625328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DROPOUT · CLUSTER 2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1264354" y="9191625"/>
            <a:ext cx="6071146" cy="971550"/>
          </a:xfrm>
          <a:prstGeom prst="rect">
            <a:avLst/>
          </a:prstGeom>
          <a:solidFill>
            <a:srgbClr val="EBE5D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9" name="Text 37"/>
          <p:cNvSpPr/>
          <p:nvPr/>
        </p:nvSpPr>
        <p:spPr>
          <a:xfrm>
            <a:off x="11492954" y="9363075"/>
            <a:ext cx="5782364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del supervisado: el cluster 2 reproduce el patrón financiero detectado por feature importance.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028700"/>
            <a:ext cx="114300" cy="114300"/>
          </a:xfrm>
          <a:prstGeom prst="rect">
            <a:avLst/>
          </a:prstGeom>
          <a:solidFill>
            <a:srgbClr val="0F274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1219200" y="952500"/>
            <a:ext cx="349109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· FEATURE IMPORTANCE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462820" y="952500"/>
            <a:ext cx="295886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RANDOMFOREST · GINI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2500" y="1447800"/>
            <a:ext cx="16383000" cy="9525"/>
          </a:xfrm>
          <a:prstGeom prst="rect">
            <a:avLst/>
          </a:prstGeom>
          <a:solidFill>
            <a:srgbClr val="CDC6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952500" y="1952625"/>
            <a:ext cx="168744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3B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· VALIDADO CONTRA BIVARIANTE &amp; PEARSON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52500" y="2714625"/>
            <a:ext cx="1687449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96" dirty="0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importance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952500" y="4776788"/>
            <a:ext cx="413231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Tuition fees up to date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010948" y="4776788"/>
            <a:ext cx="8191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0.156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52500" y="5186363"/>
            <a:ext cx="8801398" cy="209550"/>
          </a:xfrm>
          <a:prstGeom prst="rect">
            <a:avLst/>
          </a:prstGeom>
          <a:solidFill>
            <a:srgbClr val="EBE5D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952500" y="5186363"/>
            <a:ext cx="8801398" cy="209550"/>
          </a:xfrm>
          <a:prstGeom prst="rect">
            <a:avLst/>
          </a:prstGeom>
          <a:solidFill>
            <a:srgbClr val="0F274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952500" y="5567363"/>
            <a:ext cx="396783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4EA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financial_risk </a:t>
            </a:r>
            <a:r>
              <a:rPr lang="en-US" sz="1350" b="1" dirty="0">
                <a:solidFill>
                  <a:srgbClr val="4EA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derivada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010948" y="5567363"/>
            <a:ext cx="8191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4EA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0.106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52500" y="5976938"/>
            <a:ext cx="8801398" cy="209550"/>
          </a:xfrm>
          <a:prstGeom prst="rect">
            <a:avLst/>
          </a:prstGeom>
          <a:solidFill>
            <a:srgbClr val="EBE5D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952500" y="5976938"/>
            <a:ext cx="5976045" cy="209550"/>
          </a:xfrm>
          <a:prstGeom prst="rect">
            <a:avLst/>
          </a:prstGeom>
          <a:solidFill>
            <a:srgbClr val="4EA8D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952500" y="6357938"/>
            <a:ext cx="336708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Scholarship holder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010948" y="6357938"/>
            <a:ext cx="8191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0.077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952500" y="6767513"/>
            <a:ext cx="8801398" cy="209550"/>
          </a:xfrm>
          <a:prstGeom prst="rect">
            <a:avLst/>
          </a:prstGeom>
          <a:solidFill>
            <a:srgbClr val="EBE5D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952500" y="6767513"/>
            <a:ext cx="4347865" cy="209550"/>
          </a:xfrm>
          <a:prstGeom prst="rect">
            <a:avLst/>
          </a:prstGeom>
          <a:solidFill>
            <a:srgbClr val="0F274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952500" y="7148513"/>
            <a:ext cx="321409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Age at enrollment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9010948" y="7148513"/>
            <a:ext cx="8191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0.069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52500" y="7558088"/>
            <a:ext cx="8801398" cy="209550"/>
          </a:xfrm>
          <a:prstGeom prst="rect">
            <a:avLst/>
          </a:prstGeom>
          <a:solidFill>
            <a:srgbClr val="EBE5D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952500" y="7558088"/>
            <a:ext cx="3890070" cy="209550"/>
          </a:xfrm>
          <a:prstGeom prst="rect">
            <a:avLst/>
          </a:prstGeom>
          <a:solidFill>
            <a:srgbClr val="0F274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952500" y="7939087"/>
            <a:ext cx="320259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4EA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age_group </a:t>
            </a:r>
            <a:r>
              <a:rPr lang="en-US" sz="1350" b="1" dirty="0">
                <a:solidFill>
                  <a:srgbClr val="4EA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derivada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9010948" y="7939087"/>
            <a:ext cx="8191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4EA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0.063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952500" y="8348663"/>
            <a:ext cx="8801398" cy="209550"/>
          </a:xfrm>
          <a:prstGeom prst="rect">
            <a:avLst/>
          </a:prstGeom>
          <a:solidFill>
            <a:srgbClr val="EBE5D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952500" y="8348663"/>
            <a:ext cx="3555653" cy="209550"/>
          </a:xfrm>
          <a:prstGeom prst="rect">
            <a:avLst/>
          </a:prstGeom>
          <a:solidFill>
            <a:srgbClr val="4EA8D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8" name="Shape 26"/>
          <p:cNvSpPr/>
          <p:nvPr/>
        </p:nvSpPr>
        <p:spPr>
          <a:xfrm>
            <a:off x="10287298" y="3810000"/>
            <a:ext cx="9525" cy="5715000"/>
          </a:xfrm>
          <a:prstGeom prst="rect">
            <a:avLst/>
          </a:prstGeom>
          <a:solidFill>
            <a:srgbClr val="CDC6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9" name="Shape 27"/>
          <p:cNvSpPr/>
          <p:nvPr/>
        </p:nvSpPr>
        <p:spPr>
          <a:xfrm>
            <a:off x="10830223" y="3810000"/>
            <a:ext cx="6505277" cy="1457325"/>
          </a:xfrm>
          <a:prstGeom prst="rect">
            <a:avLst/>
          </a:prstGeom>
          <a:solidFill>
            <a:srgbClr val="EBE5D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11096923" y="4038600"/>
            <a:ext cx="615103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150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HALLAZGO 1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1096923" y="4352925"/>
            <a:ext cx="6151034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factor económico domina: Tuition fees + financial_risk + Scholarship holder = </a:t>
            </a:r>
            <a:r>
              <a:rPr lang="en-US" sz="1800" b="1" dirty="0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33.9% </a:t>
            </a:r>
            <a:r>
              <a:rPr lang="en-US" sz="1800" dirty="0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importancia total.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0830223" y="5495925"/>
            <a:ext cx="6505277" cy="1457325"/>
          </a:xfrm>
          <a:prstGeom prst="rect">
            <a:avLst/>
          </a:prstGeom>
          <a:solidFill>
            <a:srgbClr val="EBE5D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11096923" y="5724525"/>
            <a:ext cx="615103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150" dirty="0">
                <a:solidFill>
                  <a:srgbClr val="4EA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HALLAZGO 2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1096923" y="6038850"/>
            <a:ext cx="6151034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de las 4 features derivadas entran en el top 5, </a:t>
            </a:r>
            <a:r>
              <a:rPr lang="en-US" sz="1800" dirty="0" err="1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</a:t>
            </a:r>
            <a:r>
              <a:rPr lang="en-US" sz="1800" dirty="0">
                <a:solidFill>
                  <a:srgbClr val="11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feature engineering aporta señal real, no decoración.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0830223" y="7181850"/>
            <a:ext cx="6505277" cy="1743075"/>
          </a:xfrm>
          <a:prstGeom prst="rect">
            <a:avLst/>
          </a:prstGeom>
          <a:solidFill>
            <a:srgbClr val="0F274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11096923" y="7410450"/>
            <a:ext cx="615103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150" dirty="0">
                <a:solidFill>
                  <a:srgbClr val="4EA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CRUZADA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1096923" y="7724775"/>
            <a:ext cx="6151034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mismas variables encabezan el análisis bivariante y la matriz de correlación de Pearson, </a:t>
            </a:r>
            <a:r>
              <a:rPr lang="en-US" sz="1800" dirty="0" err="1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</a:t>
            </a:r>
            <a:r>
              <a:rPr lang="en-US" sz="1800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modelo no inventa señal: la confirma.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F274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952500" y="1028700"/>
            <a:ext cx="114300" cy="114300"/>
          </a:xfrm>
          <a:prstGeom prst="rect">
            <a:avLst/>
          </a:prstGeom>
          <a:solidFill>
            <a:srgbClr val="4EA8D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1219200" y="952500"/>
            <a:ext cx="48206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B8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· ARQUITECTURA DE PRODUCCIÓN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844290" y="952500"/>
            <a:ext cx="359594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B8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EDURISKML.STREAMLIT.APP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52500" y="1447800"/>
            <a:ext cx="16383000" cy="9525"/>
          </a:xfrm>
          <a:prstGeom prst="rect">
            <a:avLst/>
          </a:prstGeom>
          <a:solidFill>
            <a:srgbClr val="2A425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952500" y="1952625"/>
            <a:ext cx="168744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7E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· REPRODUCIBLE · DESPLEGADO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52500" y="2714625"/>
            <a:ext cx="1687449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96" dirty="0">
                <a:solidFill>
                  <a:srgbClr val="F3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 producción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952500" y="3886200"/>
            <a:ext cx="8586490" cy="438150"/>
          </a:xfrm>
          <a:prstGeom prst="rect">
            <a:avLst/>
          </a:prstGeom>
          <a:solidFill>
            <a:srgbClr val="0A1C3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952500" y="4314825"/>
            <a:ext cx="8586490" cy="9525"/>
          </a:xfrm>
          <a:prstGeom prst="rect">
            <a:avLst/>
          </a:prstGeom>
          <a:solidFill>
            <a:srgbClr val="1F3A5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1104900" y="4043363"/>
            <a:ext cx="114300" cy="114300"/>
          </a:xfrm>
          <a:prstGeom prst="ellipse">
            <a:avLst/>
          </a:prstGeom>
          <a:solidFill>
            <a:srgbClr val="2C486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1295400" y="4043363"/>
            <a:ext cx="114300" cy="114300"/>
          </a:xfrm>
          <a:prstGeom prst="ellipse">
            <a:avLst/>
          </a:prstGeom>
          <a:solidFill>
            <a:srgbClr val="2C486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1485900" y="4043363"/>
            <a:ext cx="114300" cy="114300"/>
          </a:xfrm>
          <a:prstGeom prst="ellipse">
            <a:avLst/>
          </a:prstGeom>
          <a:solidFill>
            <a:srgbClr val="2C486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1828800" y="4000500"/>
            <a:ext cx="224447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08" dirty="0">
                <a:solidFill>
                  <a:srgbClr val="7E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EduRisk / repo structure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952500" y="4324350"/>
            <a:ext cx="8586490" cy="5200650"/>
          </a:xfrm>
          <a:prstGeom prst="rect">
            <a:avLst/>
          </a:prstGeom>
          <a:solidFill>
            <a:srgbClr val="0A1C3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1295400" y="4629150"/>
            <a:ext cx="8158285" cy="462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650" dirty="0">
                <a:solidFill>
                  <a:srgbClr val="7E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EduRisk/ </a:t>
            </a:r>
            <a:r>
              <a:rPr lang="en-US" sz="1650" dirty="0">
                <a:solidFill>
                  <a:srgbClr val="D6E3F0"/>
                </a:solidFill>
                <a:highlight>
                  <a:srgbClr val="0A1C3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├──  </a:t>
            </a:r>
            <a:r>
              <a:rPr lang="en-US" sz="1650" dirty="0">
                <a:solidFill>
                  <a:srgbClr val="4EA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src/ </a:t>
            </a:r>
            <a:r>
              <a:rPr lang="en-US" sz="1650" dirty="0">
                <a:solidFill>
                  <a:srgbClr val="D6E3F0"/>
                </a:solidFill>
                <a:highlight>
                  <a:srgbClr val="0A1C3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│   ├──  </a:t>
            </a:r>
            <a:r>
              <a:rPr lang="en-US" sz="1650" dirty="0">
                <a:solidFill>
                  <a:srgbClr val="F3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data_processing.py</a:t>
            </a:r>
            <a:r>
              <a:rPr lang="en-US" sz="1650" dirty="0">
                <a:solidFill>
                  <a:srgbClr val="D6E3F0"/>
                </a:solidFill>
                <a:highlight>
                  <a:srgbClr val="0A1C3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r>
              <a:rPr lang="en-US" sz="1650" dirty="0">
                <a:solidFill>
                  <a:srgbClr val="6F8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DataProcessor </a:t>
            </a:r>
            <a:r>
              <a:rPr lang="en-US" sz="1650" dirty="0">
                <a:solidFill>
                  <a:srgbClr val="D6E3F0"/>
                </a:solidFill>
                <a:highlight>
                  <a:srgbClr val="0A1C3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│   ├──  </a:t>
            </a:r>
            <a:r>
              <a:rPr lang="en-US" sz="1650" dirty="0">
                <a:solidFill>
                  <a:srgbClr val="F3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training.py</a:t>
            </a:r>
            <a:r>
              <a:rPr lang="en-US" sz="1650" dirty="0">
                <a:solidFill>
                  <a:srgbClr val="D6E3F0"/>
                </a:solidFill>
                <a:highlight>
                  <a:srgbClr val="0A1C3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          </a:t>
            </a:r>
            <a:r>
              <a:rPr lang="en-US" sz="1650" dirty="0">
                <a:solidFill>
                  <a:srgbClr val="6F8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entrena + serializa </a:t>
            </a:r>
            <a:r>
              <a:rPr lang="en-US" sz="1650" dirty="0">
                <a:solidFill>
                  <a:srgbClr val="D6E3F0"/>
                </a:solidFill>
                <a:highlight>
                  <a:srgbClr val="0A1C3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│   └──  </a:t>
            </a:r>
            <a:r>
              <a:rPr lang="en-US" sz="1650" dirty="0">
                <a:solidFill>
                  <a:srgbClr val="F3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evaluation.py</a:t>
            </a:r>
            <a:r>
              <a:rPr lang="en-US" sz="1650" dirty="0">
                <a:solidFill>
                  <a:srgbClr val="D6E3F0"/>
                </a:solidFill>
                <a:highlight>
                  <a:srgbClr val="0A1C3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        </a:t>
            </a:r>
            <a:r>
              <a:rPr lang="en-US" sz="1650" dirty="0">
                <a:solidFill>
                  <a:srgbClr val="6F8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métricas CV </a:t>
            </a:r>
            <a:r>
              <a:rPr lang="en-US" sz="1650" dirty="0">
                <a:solidFill>
                  <a:srgbClr val="D6E3F0"/>
                </a:solidFill>
                <a:highlight>
                  <a:srgbClr val="0A1C3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├──  </a:t>
            </a:r>
            <a:r>
              <a:rPr lang="en-US" sz="1650" dirty="0">
                <a:solidFill>
                  <a:srgbClr val="4EA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app_streamlit/ </a:t>
            </a:r>
            <a:r>
              <a:rPr lang="en-US" sz="1650" dirty="0">
                <a:solidFill>
                  <a:srgbClr val="D6E3F0"/>
                </a:solidFill>
                <a:highlight>
                  <a:srgbClr val="0A1C3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│   └──  </a:t>
            </a:r>
            <a:r>
              <a:rPr lang="en-US" sz="1650" dirty="0">
                <a:solidFill>
                  <a:srgbClr val="F3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app.py</a:t>
            </a:r>
            <a:r>
              <a:rPr lang="en-US" sz="1650" dirty="0">
                <a:solidFill>
                  <a:srgbClr val="D6E3F0"/>
                </a:solidFill>
                <a:highlight>
                  <a:srgbClr val="0A1C3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               </a:t>
            </a:r>
            <a:r>
              <a:rPr lang="en-US" sz="1650" dirty="0">
                <a:solidFill>
                  <a:srgbClr val="6F8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UI + CSV masivo </a:t>
            </a:r>
            <a:r>
              <a:rPr lang="en-US" sz="1650" dirty="0">
                <a:solidFill>
                  <a:srgbClr val="D6E3F0"/>
                </a:solidFill>
                <a:highlight>
                  <a:srgbClr val="0A1C3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├──  </a:t>
            </a:r>
            <a:r>
              <a:rPr lang="en-US" sz="1650" dirty="0">
                <a:solidFill>
                  <a:srgbClr val="4EA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models/</a:t>
            </a:r>
            <a:r>
              <a:rPr lang="en-US" sz="1650" dirty="0">
                <a:solidFill>
                  <a:srgbClr val="D6E3F0"/>
                </a:solidFill>
                <a:highlight>
                  <a:srgbClr val="0A1C3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               </a:t>
            </a:r>
            <a:r>
              <a:rPr lang="en-US" sz="1650" dirty="0">
                <a:solidFill>
                  <a:srgbClr val="6F8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pipeline.pkl </a:t>
            </a:r>
            <a:r>
              <a:rPr lang="en-US" sz="1650" dirty="0">
                <a:solidFill>
                  <a:srgbClr val="D6E3F0"/>
                </a:solidFill>
                <a:highlight>
                  <a:srgbClr val="0A1C3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├──  </a:t>
            </a:r>
            <a:r>
              <a:rPr lang="en-US" sz="1650" dirty="0">
                <a:solidFill>
                  <a:srgbClr val="4EA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notebooks/</a:t>
            </a:r>
            <a:r>
              <a:rPr lang="en-US" sz="1650" dirty="0">
                <a:solidFill>
                  <a:srgbClr val="D6E3F0"/>
                </a:solidFill>
                <a:highlight>
                  <a:srgbClr val="0A1C3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            </a:t>
            </a:r>
            <a:r>
              <a:rPr lang="en-US" sz="1650" dirty="0">
                <a:solidFill>
                  <a:srgbClr val="6F8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EDA + experimentos </a:t>
            </a:r>
            <a:r>
              <a:rPr lang="en-US" sz="1650" dirty="0">
                <a:solidFill>
                  <a:srgbClr val="D6E3F0"/>
                </a:solidFill>
                <a:highlight>
                  <a:srgbClr val="0A1C3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└──  </a:t>
            </a:r>
            <a:r>
              <a:rPr lang="en-US" sz="1650" dirty="0">
                <a:solidFill>
                  <a:srgbClr val="F3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requirements.txt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9919990" y="3886200"/>
            <a:ext cx="7415510" cy="1752600"/>
          </a:xfrm>
          <a:prstGeom prst="rect">
            <a:avLst/>
          </a:prstGeom>
          <a:solidFill>
            <a:srgbClr val="4EA8DE">
              <a:alpha val="6000"/>
            </a:srgbClr>
          </a:solidFill>
          <a:ln w="9525">
            <a:solidFill>
              <a:srgbClr val="2A42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10234315" y="4162425"/>
            <a:ext cx="699046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150" dirty="0">
                <a:solidFill>
                  <a:srgbClr val="4EA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AUTO-DETECTION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0234315" y="4552950"/>
            <a:ext cx="2185988" cy="809625"/>
          </a:xfrm>
          <a:prstGeom prst="rect">
            <a:avLst/>
          </a:prstGeom>
          <a:solidFill>
            <a:srgbClr val="0A1C3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10348615" y="4686300"/>
            <a:ext cx="19573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6FA8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0348615" y="4972050"/>
            <a:ext cx="195738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50" dirty="0">
                <a:solidFill>
                  <a:srgbClr val="9EB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cols originales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12534602" y="4552950"/>
            <a:ext cx="2186136" cy="809625"/>
          </a:xfrm>
          <a:prstGeom prst="rect">
            <a:avLst/>
          </a:prstGeom>
          <a:solidFill>
            <a:srgbClr val="0A1C3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12648902" y="4686300"/>
            <a:ext cx="195753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4EA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processed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2648902" y="4972050"/>
            <a:ext cx="195753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50" dirty="0">
                <a:solidFill>
                  <a:srgbClr val="9EB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cols + derivadas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14835039" y="4552950"/>
            <a:ext cx="2185988" cy="809625"/>
          </a:xfrm>
          <a:prstGeom prst="rect">
            <a:avLst/>
          </a:prstGeom>
          <a:solidFill>
            <a:srgbClr val="0A1C3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14949339" y="4686300"/>
            <a:ext cx="19573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invalid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4949339" y="4972050"/>
            <a:ext cx="195738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50" dirty="0">
                <a:solidFill>
                  <a:srgbClr val="9EB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mismatch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9919990" y="5867400"/>
            <a:ext cx="7415510" cy="1914525"/>
          </a:xfrm>
          <a:prstGeom prst="rect">
            <a:avLst/>
          </a:prstGeom>
          <a:solidFill>
            <a:srgbClr val="4EA8D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10224790" y="6134100"/>
            <a:ext cx="701008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150" dirty="0">
                <a:solidFill>
                  <a:srgbClr val="0A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· ACTIVO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0224790" y="6467475"/>
            <a:ext cx="701008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A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eduriskml.streamlit.app</a:t>
            </a:r>
            <a:endParaRPr lang="en-US" sz="2250" dirty="0"/>
          </a:p>
        </p:txBody>
      </p:sp>
      <p:sp>
        <p:nvSpPr>
          <p:cNvPr id="31" name="Text 29"/>
          <p:cNvSpPr/>
          <p:nvPr/>
        </p:nvSpPr>
        <p:spPr>
          <a:xfrm>
            <a:off x="10224790" y="6943725"/>
            <a:ext cx="7010087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0A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Predicción individual (formulario) · masiva (upload CSV) · descarga de resultados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9919990" y="8010525"/>
            <a:ext cx="2370237" cy="390525"/>
          </a:xfrm>
          <a:prstGeom prst="rect">
            <a:avLst/>
          </a:prstGeom>
          <a:ln w="9525">
            <a:solidFill>
              <a:srgbClr val="7EA0C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10043815" y="8096250"/>
            <a:ext cx="212258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500" kern="0" spc="90" dirty="0">
                <a:solidFill>
                  <a:srgbClr val="B8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12442627" y="8010525"/>
            <a:ext cx="2370237" cy="390525"/>
          </a:xfrm>
          <a:prstGeom prst="rect">
            <a:avLst/>
          </a:prstGeom>
          <a:ln w="9525">
            <a:solidFill>
              <a:srgbClr val="7EA0C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12566452" y="8096250"/>
            <a:ext cx="212258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500" kern="0" spc="90" dirty="0">
                <a:solidFill>
                  <a:srgbClr val="B8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REPRODUCIBLE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14965263" y="8010525"/>
            <a:ext cx="2370237" cy="390525"/>
          </a:xfrm>
          <a:prstGeom prst="rect">
            <a:avLst/>
          </a:prstGeom>
          <a:ln w="9525">
            <a:solidFill>
              <a:srgbClr val="7EA0C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15089088" y="8096250"/>
            <a:ext cx="212258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500" kern="0" spc="90" dirty="0">
                <a:solidFill>
                  <a:srgbClr val="B8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LISTO PARA CI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1342</Words>
  <Application>Microsoft Macintosh PowerPoint</Application>
  <PresentationFormat>Personalizado</PresentationFormat>
  <Paragraphs>243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Manuel Ernesto Correa Vera</cp:lastModifiedBy>
  <cp:revision>17</cp:revision>
  <dcterms:created xsi:type="dcterms:W3CDTF">2026-05-03T19:02:40Z</dcterms:created>
  <dcterms:modified xsi:type="dcterms:W3CDTF">2026-05-03T20:30:30Z</dcterms:modified>
</cp:coreProperties>
</file>